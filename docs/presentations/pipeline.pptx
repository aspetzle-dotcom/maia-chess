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07bc3405d845df" /><Relationship Type="http://schemas.openxmlformats.org/officeDocument/2006/relationships/extended-properties" Target="/docProps/app.xml" Id="R21d9f7e921474830" /><Relationship Type="http://schemas.openxmlformats.org/officeDocument/2006/relationships/officeDocument" Target="/ppt/presentation.xml" Id="R7b683cab950b47a0" /></Relationships>
</file>

<file path=ppt/presentation.xml><?xml version="1.0" encoding="utf-8"?>
<p:presentation xmlns:p="http://schemas.openxmlformats.org/presentationml/2006/main">
  <p:sldMasterIdLst>
    <p:sldMasterId xmlns:r="http://schemas.openxmlformats.org/officeDocument/2006/relationships" id="2147483648" r:id="R2ea2a6f6facf4526"/>
  </p:sldMasterIdLst>
  <p:notesMasterIdLst>
    <p:notesMasterId xmlns:r="http://schemas.openxmlformats.org/officeDocument/2006/relationships" r:id="Rc21b7d645af64004"/>
  </p:notesMasterIdLst>
  <p:sldIdLst>
    <p:sldId xmlns:r="http://schemas.openxmlformats.org/officeDocument/2006/relationships" id="256" r:id="R8d8c720a24c24cbf"/>
    <p:sldId xmlns:r="http://schemas.openxmlformats.org/officeDocument/2006/relationships" id="257" r:id="R92649e12f6f04635"/>
    <p:sldId xmlns:r="http://schemas.openxmlformats.org/officeDocument/2006/relationships" id="258" r:id="Rcb4e2b79c59549a7"/>
    <p:sldId xmlns:r="http://schemas.openxmlformats.org/officeDocument/2006/relationships" id="259" r:id="R808aa931cbe34e56"/>
    <p:sldId xmlns:r="http://schemas.openxmlformats.org/officeDocument/2006/relationships" id="260" r:id="R1e29ef472dcb4cd1"/>
    <p:sldId xmlns:r="http://schemas.openxmlformats.org/officeDocument/2006/relationships" id="261" r:id="Re5aaef55c8dc45e6"/>
    <p:sldId xmlns:r="http://schemas.openxmlformats.org/officeDocument/2006/relationships" id="262" r:id="Rc913058f6b15440e"/>
    <p:sldId xmlns:r="http://schemas.openxmlformats.org/officeDocument/2006/relationships" id="263" r:id="R621503d2e1fe41e8"/>
    <p:sldId xmlns:r="http://schemas.openxmlformats.org/officeDocument/2006/relationships" id="264" r:id="Rdaa5beff9f9b4b6d"/>
    <p:sldId xmlns:r="http://schemas.openxmlformats.org/officeDocument/2006/relationships" id="265" r:id="Rf817780bc2324f7c"/>
    <p:sldId xmlns:r="http://schemas.openxmlformats.org/officeDocument/2006/relationships" id="266" r:id="R02f0dd4340894515"/>
    <p:sldId xmlns:r="http://schemas.openxmlformats.org/officeDocument/2006/relationships" id="267" r:id="Rb9434f87ebb44472"/>
    <p:sldId xmlns:r="http://schemas.openxmlformats.org/officeDocument/2006/relationships" id="268" r:id="R60c26d0a984a42a8"/>
    <p:sldId xmlns:r="http://schemas.openxmlformats.org/officeDocument/2006/relationships" id="269" r:id="Rdb63716cb2b34c3f"/>
    <p:sldId xmlns:r="http://schemas.openxmlformats.org/officeDocument/2006/relationships" id="270" r:id="R08ada40eb2d84014"/>
    <p:sldId xmlns:r="http://schemas.openxmlformats.org/officeDocument/2006/relationships" id="271" r:id="R8f39b9f356154fb9"/>
    <p:sldId xmlns:r="http://schemas.openxmlformats.org/officeDocument/2006/relationships" id="272" r:id="R9ce2fd72e5c74133"/>
    <p:sldId xmlns:r="http://schemas.openxmlformats.org/officeDocument/2006/relationships" id="273" r:id="R00890eaaf6ac4eff"/>
    <p:sldId xmlns:r="http://schemas.openxmlformats.org/officeDocument/2006/relationships" id="274" r:id="R84aac9e0d6b247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a16d7a2b6c4374" /><Relationship Type="http://schemas.openxmlformats.org/officeDocument/2006/relationships/slideMaster" Target="/ppt/slideMasters/slideMaster1.xml" Id="R2ea2a6f6facf4526" /><Relationship Type="http://schemas.openxmlformats.org/officeDocument/2006/relationships/notesMaster" Target="/ppt/notesMasters/notesMaster1.xml" Id="Rc21b7d645af64004" /><Relationship Type="http://schemas.openxmlformats.org/officeDocument/2006/relationships/presProps" Target="/ppt/presProps.xml" Id="R8d53d2a52a534d5c" /><Relationship Type="http://schemas.openxmlformats.org/officeDocument/2006/relationships/tableStyles" Target="/ppt/tableStyles.xml" Id="Rae6e3b8dc8124c3c" /><Relationship Type="http://schemas.openxmlformats.org/officeDocument/2006/relationships/slide" Target="/ppt/slides/slide1.xml" Id="R8d8c720a24c24cbf" /><Relationship Type="http://schemas.openxmlformats.org/officeDocument/2006/relationships/slide" Target="/ppt/slides/slide2.xml" Id="R92649e12f6f04635" /><Relationship Type="http://schemas.openxmlformats.org/officeDocument/2006/relationships/slide" Target="/ppt/slides/slide3.xml" Id="Rcb4e2b79c59549a7" /><Relationship Type="http://schemas.openxmlformats.org/officeDocument/2006/relationships/slide" Target="/ppt/slides/slide4.xml" Id="R808aa931cbe34e56" /><Relationship Type="http://schemas.openxmlformats.org/officeDocument/2006/relationships/slide" Target="/ppt/slides/slide5.xml" Id="R1e29ef472dcb4cd1" /><Relationship Type="http://schemas.openxmlformats.org/officeDocument/2006/relationships/slide" Target="/ppt/slides/slide6.xml" Id="Re5aaef55c8dc45e6" /><Relationship Type="http://schemas.openxmlformats.org/officeDocument/2006/relationships/slide" Target="/ppt/slides/slide7.xml" Id="Rc913058f6b15440e" /><Relationship Type="http://schemas.openxmlformats.org/officeDocument/2006/relationships/slide" Target="/ppt/slides/slide8.xml" Id="R621503d2e1fe41e8" /><Relationship Type="http://schemas.openxmlformats.org/officeDocument/2006/relationships/slide" Target="/ppt/slides/slide9.xml" Id="Rdaa5beff9f9b4b6d" /><Relationship Type="http://schemas.openxmlformats.org/officeDocument/2006/relationships/slide" Target="/ppt/slides/slide10.xml" Id="Rf817780bc2324f7c" /><Relationship Type="http://schemas.openxmlformats.org/officeDocument/2006/relationships/slide" Target="/ppt/slides/slide11.xml" Id="R02f0dd4340894515" /><Relationship Type="http://schemas.openxmlformats.org/officeDocument/2006/relationships/slide" Target="/ppt/slides/slide12.xml" Id="Rb9434f87ebb44472" /><Relationship Type="http://schemas.openxmlformats.org/officeDocument/2006/relationships/slide" Target="/ppt/slides/slide13.xml" Id="R60c26d0a984a42a8" /><Relationship Type="http://schemas.openxmlformats.org/officeDocument/2006/relationships/slide" Target="/ppt/slides/slide14.xml" Id="Rdb63716cb2b34c3f" /><Relationship Type="http://schemas.openxmlformats.org/officeDocument/2006/relationships/slide" Target="/ppt/slides/slide15.xml" Id="R08ada40eb2d84014" /><Relationship Type="http://schemas.openxmlformats.org/officeDocument/2006/relationships/slide" Target="/ppt/slides/slide16.xml" Id="R8f39b9f356154fb9" /><Relationship Type="http://schemas.openxmlformats.org/officeDocument/2006/relationships/slide" Target="/ppt/slides/slide17.xml" Id="R9ce2fd72e5c74133" /><Relationship Type="http://schemas.openxmlformats.org/officeDocument/2006/relationships/slide" Target="/ppt/slides/slide18.xml" Id="R00890eaaf6ac4eff" /><Relationship Type="http://schemas.openxmlformats.org/officeDocument/2006/relationships/slide" Target="/ppt/slides/slide19.xml" Id="R84aac9e0d6b247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e6fb93742744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d616c24bd84121" /><Relationship Type="http://schemas.openxmlformats.org/officeDocument/2006/relationships/notesMaster" Target="/ppt/notesMasters/notesMaster1.xml" Id="R1ac8d6ebe8dc4a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5cc462ec5343cf" /><Relationship Type="http://schemas.openxmlformats.org/officeDocument/2006/relationships/notesMaster" Target="/ppt/notesMasters/notesMaster1.xml" Id="R5785a59bdf7d44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cd9458e69e4a15" /><Relationship Type="http://schemas.openxmlformats.org/officeDocument/2006/relationships/notesMaster" Target="/ppt/notesMasters/notesMaster1.xml" Id="R4689882bc65b48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ce660b22424080" /><Relationship Type="http://schemas.openxmlformats.org/officeDocument/2006/relationships/notesMaster" Target="/ppt/notesMasters/notesMaster1.xml" Id="Rcd5c0221e4bc4a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07ee5ab4694ca4" /><Relationship Type="http://schemas.openxmlformats.org/officeDocument/2006/relationships/notesMaster" Target="/ppt/notesMasters/notesMaster1.xml" Id="R4812894780f145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e1897e73764732" /><Relationship Type="http://schemas.openxmlformats.org/officeDocument/2006/relationships/notesMaster" Target="/ppt/notesMasters/notesMaster1.xml" Id="Rf2d9d7eb58d745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6e3f40125b4bee" /><Relationship Type="http://schemas.openxmlformats.org/officeDocument/2006/relationships/notesMaster" Target="/ppt/notesMasters/notesMaster1.xml" Id="R1febae76880c4a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287178dbf44c83" /><Relationship Type="http://schemas.openxmlformats.org/officeDocument/2006/relationships/notesMaster" Target="/ppt/notesMasters/notesMaster1.xml" Id="Rb83d9fc1c10245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991d4c147e4a54" /><Relationship Type="http://schemas.openxmlformats.org/officeDocument/2006/relationships/notesMaster" Target="/ppt/notesMasters/notesMaster1.xml" Id="R262c6f930a3240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9a93efa9c84afa" /><Relationship Type="http://schemas.openxmlformats.org/officeDocument/2006/relationships/notesMaster" Target="/ppt/notesMasters/notesMaster1.xml" Id="R39c48976242841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175607cb0446f6" /><Relationship Type="http://schemas.openxmlformats.org/officeDocument/2006/relationships/notesMaster" Target="/ppt/notesMasters/notesMaster1.xml" Id="R4492ebab595745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80607376194b18" /><Relationship Type="http://schemas.openxmlformats.org/officeDocument/2006/relationships/notesMaster" Target="/ppt/notesMasters/notesMaster1.xml" Id="Re5887c15d9914e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3f3afa0e12404e" /><Relationship Type="http://schemas.openxmlformats.org/officeDocument/2006/relationships/notesMaster" Target="/ppt/notesMasters/notesMaster1.xml" Id="Rab6eb7d68bec4a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e2c5f5bb3b4435" /><Relationship Type="http://schemas.openxmlformats.org/officeDocument/2006/relationships/notesMaster" Target="/ppt/notesMasters/notesMaster1.xml" Id="R7dd536592cde40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87f98c1fda403b" /><Relationship Type="http://schemas.openxmlformats.org/officeDocument/2006/relationships/notesMaster" Target="/ppt/notesMasters/notesMaster1.xml" Id="R63ee493865b649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e6abda99f04f82" /><Relationship Type="http://schemas.openxmlformats.org/officeDocument/2006/relationships/notesMaster" Target="/ppt/notesMasters/notesMaster1.xml" Id="Re380efd5e87246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dd161bdfbfa4920" /><Relationship Type="http://schemas.openxmlformats.org/officeDocument/2006/relationships/notesMaster" Target="/ppt/notesMasters/notesMaster1.xml" Id="R4d247c11c82b4a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af010967714953" /><Relationship Type="http://schemas.openxmlformats.org/officeDocument/2006/relationships/notesMaster" Target="/ppt/notesMasters/notesMaster1.xml" Id="R061424f9deb84e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96a541a83d421d" /><Relationship Type="http://schemas.openxmlformats.org/officeDocument/2006/relationships/notesMaster" Target="/ppt/notesMasters/notesMaster1.xml" Id="Rcd822e70b57d47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pipeline explanation based on repository source at 1bc429b5517280819910fb573b0593a770f0a904.</a:t>
            </a:r>
          </a:p>
          <a:p xmlns:a="http://schemas.openxmlformats.org/drawingml/2006/main">
            <a:r>
              <a:t>https://github.com/aspetzle-dotcom/Maia-Chess/tree/1bc429b5517280819910fb573b0593a770f0a904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Hikaru and Caruana profiles are experimental models inspired by recorded games. The architecture describes separate learned parameters for each player. There is no measured Elo or established style-fidelity result.</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https://github.com/aspetzle-dotcom/Maia-Chess/blob/1bc429b5517280819910fb573b0593a770f0a904/README.md</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Knowing the actual move at evaluation gives a conditional timing score. Before a move occurs, timing must marginalize over possible moves. Those metrics answer different questions.</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README recommends inspecting modest downloads before entire careers. Games without adequate clocks can still contribute move-policy examples. A clock-coverage audit is necessary before interpreting a profile as faster or slower.</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contain pre-move clocks and past move durations. Current-move labels, final game results, engine evaluations, and after-move clocks are excluded from model inputs.</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https://github.com/aspetzle-dotcom/Maia-Chess/blob/1bc429b5517280819910fb573b0593a770f0a904/README.md</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is uncapped. Optional training caps use seeded reservoir sampling over the file, while the default uses all training positions shuffled without replacement. Missing player coverage is an error.</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measures server-recorded clock consumption, including platform effects. It cannot recover private thought time, network latency, or premove intent. A later clock must not be subtracted from a stale earlier clock.</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bin uses an arithmetic midpoint and later bins use geometric centers for approximate means. This representation does not model within-bin timing or flagging behavior. Coarse bin boundaries can overcover an interval.</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temporary forward hook extracts transformer features. Weights load strictly with weights_only=True. Maia’s original ponder head is present but is not the persona timing distribution.</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a:p xmlns:a="http://schemas.openxmlformats.org/drawingml/2006/main">
            <a:r>
              <a:t>https://github.com/aspetzle-dotcom/Maia-Chess/blob/1bc429b5517280819910fb573b0593a770f0a904/README.md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Square embeddings use 16 dimensions each and promotion embeddings use eight. Black moves use python-chess square mirroring. Numeric context includes both clocks, time control, increment, and ratings.</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player has independent trainable layers and optimizer state. Starting from zero correction preserves the base policy initially. Legal candidate scoring avoids allocating probability to illegal actions.</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conditional head permits different time distributions for different candidate moves. It is not the backbone’s ponder head and not a deterministic move-duration regressor.</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initial settings, not tuned scientific findings. CUDA uses mixed precision while CPU tests use float32. The default epoch count is three, while example workflows may explicitly request ten.</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corrected example uses 3,130 updates, validation every 250, batch size 32, learning rate 0.0003, and seed 42. An explicit update budget is not shortened by early stopping. These jobs are fresh runs, not resumable training.</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https://github.com/aspetzle-dotcom/Maia-Chess/blob/1bc429b5517280819910fb573b0593a770f0a904/README.md</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timing CE uses the observed move, whereas the combined validation selection uses marginal timing. A fixed seeded training subset is evaluated with the same evaluation metrics to make training/validation comparisons more informative.</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nominal 80% interval expands to bin boundaries. Sparse control/clock groups fall back to the player baseline. Histograms use smoothing and median seconds are bounded by remaining clock. Save per-position game-identifiable validation records for audits.</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 -e ".[train,dev]" and requirements-maia.txt. A first run may fetch backbone weights from Hugging Face, while saved persona checkpoints embed them. The repository includes Colab notebooks and synthetic regression tests.</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https://github.com/aspetzle-dotcom/Maia-Chess/blob/1bc429b5517280819910fb573b0593a770f0a904/README.md</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version has no search, LoRA stage, automatic resume, or live platform integration. Previously inspected test results cannot become an untouched confirmation set. Caruana’s proposed slower profile remains unverified.</a:t>
            </a:r>
          </a:p>
          <a:p xmlns:a="http://schemas.openxmlformats.org/drawingml/2006/main">
            <a:r>
              <a:t/>
            </a:r>
          </a:p>
          <a:p xmlns:a="http://schemas.openxmlformats.org/drawingml/2006/main">
            <a:r>
              <a:t>Source snapshot: 1bc429b5517280819910fb573b0593a770f0a904</a:t>
            </a:r>
          </a:p>
          <a:p xmlns:a="http://schemas.openxmlformats.org/drawingml/2006/main">
            <a:r>
              <a:t>https://github.com/aspetzle-dotcom/Maia-Chess/blob/1bc429b5517280819910fb573b0593a770f0a904/docs/architecture.md</a:t>
            </a:r>
          </a:p>
          <a:p xmlns:a="http://schemas.openxmlformats.org/drawingml/2006/main">
            <a:r>
              <a:t>https://github.com/aspetzle-dotcom/Maia-Chess/blob/1bc429b5517280819910fb573b0593a770f0a904/README.md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https://github.com/aspetzle-dotcom/Maia-Chess/tree/1bc429b5517280819910fb573b0593a770f0a904</a:t>
            </a:r>
          </a:p>
          <a:p xmlns:a="http://schemas.openxmlformats.org/drawingml/2006/main">
            <a:r>
              <a:t>https://github.com/aspetzle-dotcom/Maia-Chess/blob/1bc429b5517280819910fb573b0593a770f0a904/README.md</a:t>
            </a:r>
          </a:p>
          <a:p xmlns:a="http://schemas.openxmlformats.org/drawingml/2006/main">
            <a:r>
              <a:t>https://github.com/aspetzle-dotcom/Maia-Chess/blob/1bc429b5517280819910fb573b0593a770f0a904/docs/architecture.md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099fa0876c46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b654fc2b064e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66229d0b0f4f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687ea6b83341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bec549ee784b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4aaabce3e84f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A7955F-BC20-4258-B641-D8083A9A9B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0DA084-9EE3-4E08-96B6-0936516ACC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052C2B-8ECC-4A16-B8F1-E4C8D936F3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7FAAB1-37BB-4FC7-BA42-78A32CD658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AFD646-AD7E-436E-8780-3B28AD0E7A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2B640C-D60A-40D9-8703-100D6253C2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F4A8FD-49BC-4605-B281-BB166F7506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DC10757-521C-4A0F-AD11-368C9E3800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B129E6-75BB-45E2-87BF-FF8BB2DCA5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419BDF-C022-400D-9E1E-7BF5A6377A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2f169d4f8942d7" /><Relationship Type="http://schemas.openxmlformats.org/officeDocument/2006/relationships/slideLayout" Target="/ppt/slideLayouts/slideLayout1.xml" Id="Rd15f5fd9cd4c4fb6" /><Relationship Type="http://schemas.openxmlformats.org/officeDocument/2006/relationships/slideLayout" Target="/ppt/slideLayouts/slideLayout2.xml" Id="R511811d676ed4d7b" /><Relationship Type="http://schemas.openxmlformats.org/officeDocument/2006/relationships/slideLayout" Target="/ppt/slideLayouts/slideLayout3.xml" Id="Rc0a934eb82e64bf8" /><Relationship Type="http://schemas.openxmlformats.org/officeDocument/2006/relationships/slideLayout" Target="/ppt/slideLayouts/slideLayout4.xml" Id="R3dcd685a040f4f06" /><Relationship Type="http://schemas.openxmlformats.org/officeDocument/2006/relationships/slideLayout" Target="/ppt/slideLayouts/slideLayout5.xml" Id="Reae2b3f219014a78" /><Relationship Type="http://schemas.openxmlformats.org/officeDocument/2006/relationships/slideLayout" Target="/ppt/slideLayouts/slideLayout6.xml" Id="R936aae9706a340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5f5fd9cd4c4fb6"/>
    <p:sldLayoutId xmlns:r="http://schemas.openxmlformats.org/officeDocument/2006/relationships" id="2147483650" r:id="R511811d676ed4d7b"/>
    <p:sldLayoutId xmlns:r="http://schemas.openxmlformats.org/officeDocument/2006/relationships" id="2147483651" r:id="Rc0a934eb82e64bf8"/>
    <p:sldLayoutId xmlns:r="http://schemas.openxmlformats.org/officeDocument/2006/relationships" id="2147483652" r:id="R3dcd685a040f4f06"/>
    <p:sldLayoutId xmlns:r="http://schemas.openxmlformats.org/officeDocument/2006/relationships" id="2147483653" r:id="Reae2b3f219014a78"/>
    <p:sldLayoutId xmlns:r="http://schemas.openxmlformats.org/officeDocument/2006/relationships" id="2147483654" r:id="R936aae9706a340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66044e573649c2" /><Relationship Type="http://schemas.openxmlformats.org/officeDocument/2006/relationships/notesSlide" Target="/ppt/notesSlides/notesSlide1.xml" Id="R42693ea622c745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d08040f7e94062" /><Relationship Type="http://schemas.openxmlformats.org/officeDocument/2006/relationships/notesSlide" Target="/ppt/notesSlides/notesSlide2.xml" Id="Re3f5eb4b7dee43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ef5ef771e141c8" /><Relationship Type="http://schemas.openxmlformats.org/officeDocument/2006/relationships/notesSlide" Target="/ppt/notesSlides/notesSlide3.xml" Id="R933adb96deff43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965853416b145d1" /><Relationship Type="http://schemas.openxmlformats.org/officeDocument/2006/relationships/notesSlide" Target="/ppt/notesSlides/notesSlide4.xml" Id="R9199febcb1c547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442e1dcc9449f4" /><Relationship Type="http://schemas.openxmlformats.org/officeDocument/2006/relationships/notesSlide" Target="/ppt/notesSlides/notesSlide5.xml" Id="R289ae84c0e2a40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0a8d9f0642f415b" /><Relationship Type="http://schemas.openxmlformats.org/officeDocument/2006/relationships/notesSlide" Target="/ppt/notesSlides/notesSlide6.xml" Id="R15c04c2e16f548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c798a64a9b4e16" /><Relationship Type="http://schemas.openxmlformats.org/officeDocument/2006/relationships/notesSlide" Target="/ppt/notesSlides/notesSlide7.xml" Id="R4f0c5295b2a940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5b0e30f4a74f68" /><Relationship Type="http://schemas.openxmlformats.org/officeDocument/2006/relationships/notesSlide" Target="/ppt/notesSlides/notesSlide8.xml" Id="R524dfa1e18104d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f4674f9f064ed8" /><Relationship Type="http://schemas.openxmlformats.org/officeDocument/2006/relationships/notesSlide" Target="/ppt/notesSlides/notesSlide9.xml" Id="R5d05e85abedd48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1f32c6739604ac3" /><Relationship Type="http://schemas.openxmlformats.org/officeDocument/2006/relationships/notesSlide" Target="/ppt/notesSlides/notesSlide10.xml" Id="R9d1fa45e770947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1d86132808b4ad6" /><Relationship Type="http://schemas.openxmlformats.org/officeDocument/2006/relationships/notesSlide" Target="/ppt/notesSlides/notesSlide11.xml" Id="R306227a3924a4b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1149da795343be" /><Relationship Type="http://schemas.openxmlformats.org/officeDocument/2006/relationships/notesSlide" Target="/ppt/notesSlides/notesSlide12.xml" Id="R0ebe53ab3d6047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e627185144c4e8a" /><Relationship Type="http://schemas.openxmlformats.org/officeDocument/2006/relationships/notesSlide" Target="/ppt/notesSlides/notesSlide13.xml" Id="R1ef11abcd83e47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b3f15467b834dd5" /><Relationship Type="http://schemas.openxmlformats.org/officeDocument/2006/relationships/notesSlide" Target="/ppt/notesSlides/notesSlide14.xml" Id="R198addd51bac40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6620b10621c4e17" /><Relationship Type="http://schemas.openxmlformats.org/officeDocument/2006/relationships/notesSlide" Target="/ppt/notesSlides/notesSlide15.xml" Id="Rf34eb52a940542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7a72973a99f4165" /><Relationship Type="http://schemas.openxmlformats.org/officeDocument/2006/relationships/notesSlide" Target="/ppt/notesSlides/notesSlide16.xml" Id="R492f753192f741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e6a42fa40844c5f" /><Relationship Type="http://schemas.openxmlformats.org/officeDocument/2006/relationships/notesSlide" Target="/ppt/notesSlides/notesSlide17.xml" Id="R0955765010fb418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b0dcae5c1004d3e" /><Relationship Type="http://schemas.openxmlformats.org/officeDocument/2006/relationships/notesSlide" Target="/ppt/notesSlides/notesSlide18.xml" Id="R31457a79e2dc49d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603a88774074875" /><Relationship Type="http://schemas.openxmlformats.org/officeDocument/2006/relationships/notesSlide" Target="/ppt/notesSlides/notesSlide19.xml" Id="Rdec47c9d9bcb4a31" /></Relationships>
</file>

<file path=ppt/slides/slide1.xml><?xml version="1.0" encoding="utf-8"?>
<p:sld xmlns:p="http://schemas.openxmlformats.org/presentationml/2006/main">
  <p:cSld>
    <p:bg>
      <p:bgPr>
        <a:solidFill xmlns:a="http://schemas.openxmlformats.org/drawingml/2006/main">
          <a:srgbClr val="102C3B"/>
        </a:solidFill>
      </p:bgPr>
    </p:bg>
    <p:spTree>
      <p:nvGrpSpPr>
        <p:cNvPr id="1" name=""/>
        <p:cNvGrpSpPr/>
        <p:nvPr/>
      </p:nvGrpSpPr>
      <p:grpSpPr>
        <a:xfrm xmlns:a="http://schemas.openxmlformats.org/drawingml/2006/main"/>
      </p:grpSpPr>
      <p:sp>
        <p:nvSpPr>
          <p:cNvPr id="4" name="Chess persona modeling">
            <a:extLst xmlns:a="http://schemas.openxmlformats.org/drawingml/2006/main">
              <a:ext uri="{FF2B5EF4-FFF2-40B4-BE49-F238E27FC236}">
                <a16:creationId xmlns:a16="http://schemas.microsoft.com/office/drawing/2014/main" id="{12FD4671-F162-4CDD-9AFD-C2BA27665907}"/>
              </a:ext>
            </a:extLst>
          </p:cNvPr>
          <p:cNvSpPr>
            <a:spLocks xmlns:a="http://schemas.openxmlformats.org/drawingml/2006/main" noGrp="1"/>
          </p:cNvSpPr>
          <p:nvPr/>
        </p:nvSpPr>
        <p:spPr>
          <a:xfrm xmlns:a="http://schemas.openxmlformats.org/drawingml/2006/main">
            <a:off x="723900" y="1714500"/>
            <a:ext cx="106203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Chess persona modeling</a:t>
            </a:r>
          </a:p>
        </p:txBody>
      </p:sp>
      <p:sp>
        <p:nvSpPr>
          <p:cNvPr id="2" name="Game preparation, frozen Maia adaptation, and">
            <a:extLst xmlns:a="http://schemas.openxmlformats.org/drawingml/2006/main">
              <a:ext uri="{FF2B5EF4-FFF2-40B4-BE49-F238E27FC236}">
                <a16:creationId xmlns:a16="http://schemas.microsoft.com/office/drawing/2014/main" id="{D2FE0E0D-4925-4428-ABE5-A5169F078EA6}"/>
              </a:ext>
            </a:extLst>
          </p:cNvPr>
          <p:cNvSpPr>
            <a:spLocks xmlns:a="http://schemas.openxmlformats.org/drawingml/2006/main" noGrp="1"/>
          </p:cNvSpPr>
          <p:nvPr/>
        </p:nvSpPr>
        <p:spPr>
          <a:xfrm xmlns:a="http://schemas.openxmlformats.org/drawingml/2006/main">
            <a:off x="762000" y="40957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AD8D0"/>
                </a:solidFill>
                <a:latin typeface="Arial"/>
                <a:ea typeface="Arial"/>
                <a:cs typeface="Arial"/>
              </a:defRPr>
            </a:defPPr>
            <a:lvl1pPr>
              <a:defRPr sz="2250" b="0">
                <a:solidFill>
                  <a:srgbClr val="AAD8D0"/>
                </a:solidFill>
                <a:latin typeface="Arial"/>
                <a:ea typeface="Arial"/>
                <a:cs typeface="Arial"/>
              </a:defRPr>
            </a:lvl1pPr>
            <a:lvl2pPr>
              <a:defRPr sz="2250" b="0">
                <a:solidFill>
                  <a:srgbClr val="AAD8D0"/>
                </a:solidFill>
                <a:latin typeface="Arial"/>
                <a:ea typeface="Arial"/>
                <a:cs typeface="Arial"/>
              </a:defRPr>
            </a:lvl2pPr>
            <a:lvl3pPr>
              <a:defRPr sz="2250" b="0">
                <a:solidFill>
                  <a:srgbClr val="AAD8D0"/>
                </a:solidFill>
                <a:latin typeface="Arial"/>
                <a:ea typeface="Arial"/>
                <a:cs typeface="Arial"/>
              </a:defRPr>
            </a:lvl3pPr>
            <a:lvl4pPr>
              <a:defRPr sz="2250" b="0">
                <a:solidFill>
                  <a:srgbClr val="AAD8D0"/>
                </a:solidFill>
                <a:latin typeface="Arial"/>
                <a:ea typeface="Arial"/>
                <a:cs typeface="Arial"/>
              </a:defRPr>
            </a:lvl4pPr>
            <a:lvl5pPr>
              <a:defRPr sz="2250" b="0">
                <a:solidFill>
                  <a:srgbClr val="AAD8D0"/>
                </a:solidFill>
                <a:latin typeface="Arial"/>
                <a:ea typeface="Arial"/>
                <a:cs typeface="Arial"/>
              </a:defRPr>
            </a:lvl5pPr>
            <a:lvl6pPr>
              <a:defRPr sz="2250" b="0">
                <a:solidFill>
                  <a:srgbClr val="AAD8D0"/>
                </a:solidFill>
                <a:latin typeface="Arial"/>
                <a:ea typeface="Arial"/>
                <a:cs typeface="Arial"/>
              </a:defRPr>
            </a:lvl6pPr>
            <a:lvl7pPr>
              <a:defRPr sz="2250" b="0">
                <a:solidFill>
                  <a:srgbClr val="AAD8D0"/>
                </a:solidFill>
                <a:latin typeface="Arial"/>
                <a:ea typeface="Arial"/>
                <a:cs typeface="Arial"/>
              </a:defRPr>
            </a:lvl7pPr>
            <a:lvl8pPr>
              <a:defRPr sz="2250" b="0">
                <a:solidFill>
                  <a:srgbClr val="AAD8D0"/>
                </a:solidFill>
                <a:latin typeface="Arial"/>
                <a:ea typeface="Arial"/>
                <a:cs typeface="Arial"/>
              </a:defRPr>
            </a:lvl8pPr>
            <a:lvl9pPr>
              <a:defRPr sz="2250" b="0">
                <a:solidFill>
                  <a:srgbClr val="AAD8D0"/>
                </a:solidFill>
                <a:latin typeface="Arial"/>
                <a:ea typeface="Arial"/>
                <a:cs typeface="Arial"/>
              </a:defRPr>
            </a:lvl9pPr>
          </a:lstStyle>
          <a:p xmlns:a="http://schemas.openxmlformats.org/drawingml/2006/main">
            <a:pPr>
              <a:defRPr sz="2250" b="0">
                <a:solidFill>
                  <a:srgbClr val="AAD8D0"/>
                </a:solidFill>
                <a:latin typeface="Arial"/>
                <a:ea typeface="Arial"/>
                <a:cs typeface="Arial"/>
              </a:defRPr>
            </a:pPr>
            <a:r>
              <a:rPr sz="2250" b="0">
                <a:solidFill>
                  <a:srgbClr val="AAD8D0"/>
                </a:solidFill>
                <a:latin typeface="Arial"/>
                <a:ea typeface="Arial"/>
                <a:cs typeface="Arial"/>
              </a:rPr>
              <a:t>Game preparation, frozen Maia adaptation, and move-conditioned timing</a:t>
            </a:r>
          </a:p>
        </p:txBody>
      </p:sp>
      <p:sp>
        <p:nvSpPr>
          <p:cNvPr id="3" name="Maia-Chess&#10;21 October 2026">
            <a:extLst xmlns:a="http://schemas.openxmlformats.org/drawingml/2006/main">
              <a:ext uri="{FF2B5EF4-FFF2-40B4-BE49-F238E27FC236}">
                <a16:creationId xmlns:a16="http://schemas.microsoft.com/office/drawing/2014/main" id="{EDA4C031-DE0F-4AEE-9717-7EB1B4181431}"/>
              </a:ext>
            </a:extLst>
          </p:cNvPr>
          <p:cNvSpPr>
            <a:spLocks xmlns:a="http://schemas.openxmlformats.org/drawingml/2006/main" noGrp="1"/>
          </p:cNvSpPr>
          <p:nvPr/>
        </p:nvSpPr>
        <p:spPr>
          <a:xfrm xmlns:a="http://schemas.openxmlformats.org/drawingml/2006/main">
            <a:off x="762000" y="5762625"/>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4D1D6"/>
                </a:solidFill>
                <a:latin typeface="Arial"/>
                <a:ea typeface="Arial"/>
                <a:cs typeface="Arial"/>
              </a:defRPr>
            </a:defPPr>
            <a:lvl1pPr>
              <a:defRPr sz="1500" b="0">
                <a:solidFill>
                  <a:srgbClr val="C4D1D6"/>
                </a:solidFill>
                <a:latin typeface="Arial"/>
                <a:ea typeface="Arial"/>
                <a:cs typeface="Arial"/>
              </a:defRPr>
            </a:lvl1pPr>
            <a:lvl2pPr>
              <a:defRPr sz="1500" b="0">
                <a:solidFill>
                  <a:srgbClr val="C4D1D6"/>
                </a:solidFill>
                <a:latin typeface="Arial"/>
                <a:ea typeface="Arial"/>
                <a:cs typeface="Arial"/>
              </a:defRPr>
            </a:lvl2pPr>
            <a:lvl3pPr>
              <a:defRPr sz="1500" b="0">
                <a:solidFill>
                  <a:srgbClr val="C4D1D6"/>
                </a:solidFill>
                <a:latin typeface="Arial"/>
                <a:ea typeface="Arial"/>
                <a:cs typeface="Arial"/>
              </a:defRPr>
            </a:lvl3pPr>
            <a:lvl4pPr>
              <a:defRPr sz="1500" b="0">
                <a:solidFill>
                  <a:srgbClr val="C4D1D6"/>
                </a:solidFill>
                <a:latin typeface="Arial"/>
                <a:ea typeface="Arial"/>
                <a:cs typeface="Arial"/>
              </a:defRPr>
            </a:lvl4pPr>
            <a:lvl5pPr>
              <a:defRPr sz="1500" b="0">
                <a:solidFill>
                  <a:srgbClr val="C4D1D6"/>
                </a:solidFill>
                <a:latin typeface="Arial"/>
                <a:ea typeface="Arial"/>
                <a:cs typeface="Arial"/>
              </a:defRPr>
            </a:lvl5pPr>
            <a:lvl6pPr>
              <a:defRPr sz="1500" b="0">
                <a:solidFill>
                  <a:srgbClr val="C4D1D6"/>
                </a:solidFill>
                <a:latin typeface="Arial"/>
                <a:ea typeface="Arial"/>
                <a:cs typeface="Arial"/>
              </a:defRPr>
            </a:lvl6pPr>
            <a:lvl7pPr>
              <a:defRPr sz="1500" b="0">
                <a:solidFill>
                  <a:srgbClr val="C4D1D6"/>
                </a:solidFill>
                <a:latin typeface="Arial"/>
                <a:ea typeface="Arial"/>
                <a:cs typeface="Arial"/>
              </a:defRPr>
            </a:lvl7pPr>
            <a:lvl8pPr>
              <a:defRPr sz="1500" b="0">
                <a:solidFill>
                  <a:srgbClr val="C4D1D6"/>
                </a:solidFill>
                <a:latin typeface="Arial"/>
                <a:ea typeface="Arial"/>
                <a:cs typeface="Arial"/>
              </a:defRPr>
            </a:lvl8pPr>
            <a:lvl9pPr>
              <a:defRPr sz="1500" b="0">
                <a:solidFill>
                  <a:srgbClr val="C4D1D6"/>
                </a:solidFill>
                <a:latin typeface="Arial"/>
                <a:ea typeface="Arial"/>
                <a:cs typeface="Arial"/>
              </a:defRPr>
            </a:lvl9pPr>
          </a:lstStyle>
          <a:p xmlns:a="http://schemas.openxmlformats.org/drawingml/2006/main">
            <a:pPr>
              <a:defRPr sz="1500" b="0">
                <a:solidFill>
                  <a:srgbClr val="C4D1D6"/>
                </a:solidFill>
                <a:latin typeface="Arial"/>
                <a:ea typeface="Arial"/>
                <a:cs typeface="Arial"/>
              </a:defRPr>
            </a:pPr>
            <a:r>
              <a:rPr sz="1500" b="0">
                <a:solidFill>
                  <a:srgbClr val="C4D1D6"/>
                </a:solidFill>
                <a:latin typeface="Arial"/>
                <a:ea typeface="Arial"/>
                <a:cs typeface="Arial"/>
              </a:rPr>
              <a:t>Maia-Chess</a:t>
            </a:r>
          </a:p>
          <a:p xmlns:a="http://schemas.openxmlformats.org/drawingml/2006/main">
            <a:pPr>
              <a:defRPr sz="1500" b="0">
                <a:solidFill>
                  <a:srgbClr val="C4D1D6"/>
                </a:solidFill>
                <a:latin typeface="Arial"/>
                <a:ea typeface="Arial"/>
                <a:cs typeface="Arial"/>
              </a:defRPr>
            </a:pPr>
            <a:r>
              <a:rPr sz="1500" b="0">
                <a:solidFill>
                  <a:srgbClr val="C4D1D6"/>
                </a:solidFill>
                <a:latin typeface="Arial"/>
                <a:ea typeface="Arial"/>
                <a:cs typeface="Arial"/>
              </a:rPr>
              <a:t>21 October 2026</a:t>
            </a:r>
          </a:p>
        </p:txBody>
      </p:sp>
    </p:spTree>
    <p:extLst>
      <p:ext uri="{BB962C8B-B14F-4D97-AF65-F5344CB8AC3E}">
        <p14:creationId xmlns:p14="http://schemas.microsoft.com/office/powerpoint/2010/main" val="1010114709"/>
      </p:ext>
    </p:extLst>
  </p:cSld>
</p:sld>
</file>

<file path=ppt/slides/slide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Pipeline and current status">
            <a:extLst xmlns:a="http://schemas.openxmlformats.org/drawingml/2006/main">
              <a:ext uri="{FF2B5EF4-FFF2-40B4-BE49-F238E27FC236}">
                <a16:creationId xmlns:a16="http://schemas.microsoft.com/office/drawing/2014/main" id="{9C0B6E4C-6B30-4D75-B79F-D39DA7A1480F}"/>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Pipeline and current status</a:t>
            </a:r>
          </a:p>
        </p:txBody>
      </p:sp>
      <p:sp>
        <p:nvSpPr>
          <p:cNvPr id="2" name="Download player game archives and extract chr">
            <a:extLst xmlns:a="http://schemas.openxmlformats.org/drawingml/2006/main">
              <a:ext uri="{FF2B5EF4-FFF2-40B4-BE49-F238E27FC236}">
                <a16:creationId xmlns:a16="http://schemas.microsoft.com/office/drawing/2014/main" id="{ACB5ED5D-7B14-43BA-805B-033BCA045EB3}"/>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Download player game archives and extract chronological pre-move examples.</a:t>
            </a:r>
          </a:p>
        </p:txBody>
      </p:sp>
      <p:sp>
        <p:nvSpPr>
          <p:cNvPr id="3" name="Train separate player adapters on a frozen Ma">
            <a:extLst xmlns:a="http://schemas.openxmlformats.org/drawingml/2006/main">
              <a:ext uri="{FF2B5EF4-FFF2-40B4-BE49-F238E27FC236}">
                <a16:creationId xmlns:a16="http://schemas.microsoft.com/office/drawing/2014/main" id="{C0CA6D16-1900-4F67-8D18-C3A276E6D578}"/>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Train separate player adapters on a frozen Maia-3 5M backbone.</a:t>
            </a:r>
          </a:p>
        </p:txBody>
      </p:sp>
      <p:sp>
        <p:nvSpPr>
          <p:cNvPr id="4" name="Predict legal moves and move-conditioned time">
            <a:extLst xmlns:a="http://schemas.openxmlformats.org/drawingml/2006/main">
              <a:ext uri="{FF2B5EF4-FFF2-40B4-BE49-F238E27FC236}">
                <a16:creationId xmlns:a16="http://schemas.microsoft.com/office/drawing/2014/main" id="{2BD66B9F-6711-427A-91F8-B7B6C0A6B4A3}"/>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Predict legal moves and move-conditioned time distributions.</a:t>
            </a:r>
          </a:p>
        </p:txBody>
      </p:sp>
      <p:sp>
        <p:nvSpPr>
          <p:cNvPr id="5" name="The repository contains a runnable pipeline, ">
            <a:extLst xmlns:a="http://schemas.openxmlformats.org/drawingml/2006/main">
              <a:ext uri="{FF2B5EF4-FFF2-40B4-BE49-F238E27FC236}">
                <a16:creationId xmlns:a16="http://schemas.microsoft.com/office/drawing/2014/main" id="{229676AF-A097-42F5-8691-F038EED73EFB}"/>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The repository contains a runnable pipeline, not validated grandmaster personas.</a:t>
            </a:r>
          </a:p>
        </p:txBody>
      </p:sp>
      <p:sp>
        <p:nvSpPr>
          <p:cNvPr id="6" name="Maia-Chess   /   02">
            <a:extLst xmlns:a="http://schemas.openxmlformats.org/drawingml/2006/main">
              <a:ext uri="{FF2B5EF4-FFF2-40B4-BE49-F238E27FC236}">
                <a16:creationId xmlns:a16="http://schemas.microsoft.com/office/drawing/2014/main" id="{1234BAD2-26F7-4975-AB03-F263F1B2B764}"/>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02</a:t>
            </a:r>
          </a:p>
        </p:txBody>
      </p:sp>
    </p:spTree>
    <p:extLst>
      <p:ext uri="{BB962C8B-B14F-4D97-AF65-F5344CB8AC3E}">
        <p14:creationId xmlns:p14="http://schemas.microsoft.com/office/powerpoint/2010/main" val="218720672"/>
      </p:ext>
    </p:extLst>
  </p:cSld>
</p:sld>
</file>

<file path=ppt/slides/slide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Joint prediction task">
            <a:extLst xmlns:a="http://schemas.openxmlformats.org/drawingml/2006/main">
              <a:ext uri="{FF2B5EF4-FFF2-40B4-BE49-F238E27FC236}">
                <a16:creationId xmlns:a16="http://schemas.microsoft.com/office/drawing/2014/main" id="{C4C81B4D-A483-49F2-9A95-143C953C34DB}"/>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Joint prediction task</a:t>
            </a:r>
          </a:p>
        </p:txBody>
      </p:sp>
      <p:sp>
        <p:nvSpPr>
          <p:cNvPr id="2" name="P(move,time | x,p) = P(move | x,p) P(time | m">
            <a:extLst xmlns:a="http://schemas.openxmlformats.org/drawingml/2006/main">
              <a:ext uri="{FF2B5EF4-FFF2-40B4-BE49-F238E27FC236}">
                <a16:creationId xmlns:a16="http://schemas.microsoft.com/office/drawing/2014/main" id="{4A9784B8-F04D-4A7F-BCBB-0C8C2526596F}"/>
              </a:ext>
            </a:extLst>
          </p:cNvPr>
          <p:cNvSpPr>
            <a:spLocks xmlns:a="http://schemas.openxmlformats.org/drawingml/2006/main" noGrp="1"/>
          </p:cNvSpPr>
          <p:nvPr/>
        </p:nvSpPr>
        <p:spPr>
          <a:xfrm xmlns:a="http://schemas.openxmlformats.org/drawingml/2006/main">
            <a:off x="666750" y="1524000"/>
            <a:ext cx="10839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P(move,time | x,p) = P(move | x,p) P(time | move,x,p)</a:t>
            </a:r>
          </a:p>
        </p:txBody>
      </p:sp>
      <p:sp>
        <p:nvSpPr>
          <p:cNvPr id="3" name="Factor the joint distribution into move choic">
            <a:extLst xmlns:a="http://schemas.openxmlformats.org/drawingml/2006/main">
              <a:ext uri="{FF2B5EF4-FFF2-40B4-BE49-F238E27FC236}">
                <a16:creationId xmlns:a16="http://schemas.microsoft.com/office/drawing/2014/main" id="{78ED3E0D-586D-474A-A95D-80189C69F8FA}"/>
              </a:ext>
            </a:extLst>
          </p:cNvPr>
          <p:cNvSpPr>
            <a:spLocks xmlns:a="http://schemas.openxmlformats.org/drawingml/2006/main" noGrp="1"/>
          </p:cNvSpPr>
          <p:nvPr/>
        </p:nvSpPr>
        <p:spPr>
          <a:xfrm xmlns:a="http://schemas.openxmlformats.org/drawingml/2006/main">
            <a:off x="685800" y="28575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Factor the joint distribution into move choice and time conditional on the move.</a:t>
            </a:r>
          </a:p>
        </p:txBody>
      </p:sp>
      <p:sp>
        <p:nvSpPr>
          <p:cNvPr id="4" name="Condition both on board and historical contex">
            <a:extLst xmlns:a="http://schemas.openxmlformats.org/drawingml/2006/main">
              <a:ext uri="{FF2B5EF4-FFF2-40B4-BE49-F238E27FC236}">
                <a16:creationId xmlns:a16="http://schemas.microsoft.com/office/drawing/2014/main" id="{D3BF3C85-88E1-4245-A5AA-BEC67EB83DBB}"/>
              </a:ext>
            </a:extLst>
          </p:cNvPr>
          <p:cNvSpPr>
            <a:spLocks xmlns:a="http://schemas.openxmlformats.org/drawingml/2006/main" noGrp="1"/>
          </p:cNvSpPr>
          <p:nvPr/>
        </p:nvSpPr>
        <p:spPr>
          <a:xfrm xmlns:a="http://schemas.openxmlformats.org/drawingml/2006/main">
            <a:off x="685800" y="3667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Condition both on board and historical context.</a:t>
            </a:r>
          </a:p>
        </p:txBody>
      </p:sp>
      <p:sp>
        <p:nvSpPr>
          <p:cNvPr id="5" name="Train one independent checkpoint per player.">
            <a:extLst xmlns:a="http://schemas.openxmlformats.org/drawingml/2006/main">
              <a:ext uri="{FF2B5EF4-FFF2-40B4-BE49-F238E27FC236}">
                <a16:creationId xmlns:a16="http://schemas.microsoft.com/office/drawing/2014/main" id="{7EC14430-568E-4062-A896-632042F6DAE0}"/>
              </a:ext>
            </a:extLst>
          </p:cNvPr>
          <p:cNvSpPr>
            <a:spLocks xmlns:a="http://schemas.openxmlformats.org/drawingml/2006/main" noGrp="1"/>
          </p:cNvSpPr>
          <p:nvPr/>
        </p:nvSpPr>
        <p:spPr>
          <a:xfrm xmlns:a="http://schemas.openxmlformats.org/drawingml/2006/main">
            <a:off x="685800" y="4476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Train one independent checkpoint per player.</a:t>
            </a:r>
          </a:p>
        </p:txBody>
      </p:sp>
      <p:sp>
        <p:nvSpPr>
          <p:cNvPr id="6" name="Retain a pre-move marginal timing prediction ">
            <a:extLst xmlns:a="http://schemas.openxmlformats.org/drawingml/2006/main">
              <a:ext uri="{FF2B5EF4-FFF2-40B4-BE49-F238E27FC236}">
                <a16:creationId xmlns:a16="http://schemas.microsoft.com/office/drawing/2014/main" id="{0472A2F0-78C2-4BA3-A38A-68F8A77732FC}"/>
              </a:ext>
            </a:extLst>
          </p:cNvPr>
          <p:cNvSpPr>
            <a:spLocks xmlns:a="http://schemas.openxmlformats.org/drawingml/2006/main" noGrp="1"/>
          </p:cNvSpPr>
          <p:nvPr/>
        </p:nvSpPr>
        <p:spPr>
          <a:xfrm xmlns:a="http://schemas.openxmlformats.org/drawingml/2006/main">
            <a:off x="685800" y="5286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Retain a pre-move marginal timing prediction for honest evaluation.</a:t>
            </a:r>
          </a:p>
        </p:txBody>
      </p:sp>
      <p:sp>
        <p:nvSpPr>
          <p:cNvPr id="7" name="Maia-Chess   /   03">
            <a:extLst xmlns:a="http://schemas.openxmlformats.org/drawingml/2006/main">
              <a:ext uri="{FF2B5EF4-FFF2-40B4-BE49-F238E27FC236}">
                <a16:creationId xmlns:a16="http://schemas.microsoft.com/office/drawing/2014/main" id="{9FBE6081-C9A2-4B41-9C00-8AAAB551DD30}"/>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03</a:t>
            </a:r>
          </a:p>
        </p:txBody>
      </p:sp>
    </p:spTree>
    <p:extLst>
      <p:ext uri="{BB962C8B-B14F-4D97-AF65-F5344CB8AC3E}">
        <p14:creationId xmlns:p14="http://schemas.microsoft.com/office/powerpoint/2010/main" val="1671812516"/>
      </p:ext>
    </p:extLst>
  </p:cSld>
</p:sld>
</file>

<file path=ppt/slides/slide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Archive acquisition and caching">
            <a:extLst xmlns:a="http://schemas.openxmlformats.org/drawingml/2006/main">
              <a:ext uri="{FF2B5EF4-FFF2-40B4-BE49-F238E27FC236}">
                <a16:creationId xmlns:a16="http://schemas.microsoft.com/office/drawing/2014/main" id="{F227790D-4422-4699-9E24-549444C4130D}"/>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Archive acquisition and caching</a:t>
            </a:r>
          </a:p>
        </p:txBody>
      </p:sp>
      <p:sp>
        <p:nvSpPr>
          <p:cNvPr id="2" name="Fetch Chess.com monthly archives sequentially">
            <a:extLst xmlns:a="http://schemas.openxmlformats.org/drawingml/2006/main">
              <a:ext uri="{FF2B5EF4-FFF2-40B4-BE49-F238E27FC236}">
                <a16:creationId xmlns:a16="http://schemas.microsoft.com/office/drawing/2014/main" id="{B199718D-D8BB-4BAD-9F0A-B2CE581655D0}"/>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Fetch Chess.com monthly archives sequentially.</a:t>
            </a:r>
          </a:p>
        </p:txBody>
      </p:sp>
      <p:sp>
        <p:nvSpPr>
          <p:cNvPr id="3" name="Cache completed months and refresh the curren">
            <a:extLst xmlns:a="http://schemas.openxmlformats.org/drawingml/2006/main">
              <a:ext uri="{FF2B5EF4-FFF2-40B4-BE49-F238E27FC236}">
                <a16:creationId xmlns:a16="http://schemas.microsoft.com/office/drawing/2014/main" id="{D1C8E0E4-2D8F-4B85-910C-0654C7512362}"/>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Cache completed months and refresh the current month.</a:t>
            </a:r>
          </a:p>
        </p:txBody>
      </p:sp>
      <p:sp>
        <p:nvSpPr>
          <p:cNvPr id="4" name="Limit by date or number of months for an init">
            <a:extLst xmlns:a="http://schemas.openxmlformats.org/drawingml/2006/main">
              <a:ext uri="{FF2B5EF4-FFF2-40B4-BE49-F238E27FC236}">
                <a16:creationId xmlns:a16="http://schemas.microsoft.com/office/drawing/2014/main" id="{7FBB0DD6-FA6F-4B59-AB6C-E31CA96FF6D9}"/>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Limit by date or number of months for an initial coverage audit.</a:t>
            </a:r>
          </a:p>
        </p:txBody>
      </p:sp>
      <p:sp>
        <p:nvSpPr>
          <p:cNvPr id="5" name="Downloaded games and model checkpoints stay o">
            <a:extLst xmlns:a="http://schemas.openxmlformats.org/drawingml/2006/main">
              <a:ext uri="{FF2B5EF4-FFF2-40B4-BE49-F238E27FC236}">
                <a16:creationId xmlns:a16="http://schemas.microsoft.com/office/drawing/2014/main" id="{839DBDE9-8496-48CC-886F-78748F823FF4}"/>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Downloaded games and model checkpoints stay outside tracked source files.</a:t>
            </a:r>
          </a:p>
        </p:txBody>
      </p:sp>
      <p:sp>
        <p:nvSpPr>
          <p:cNvPr id="6" name="Maia-Chess   /   04">
            <a:extLst xmlns:a="http://schemas.openxmlformats.org/drawingml/2006/main">
              <a:ext uri="{FF2B5EF4-FFF2-40B4-BE49-F238E27FC236}">
                <a16:creationId xmlns:a16="http://schemas.microsoft.com/office/drawing/2014/main" id="{70DE49FD-13E6-4429-B489-DCBECA27F877}"/>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04</a:t>
            </a:r>
          </a:p>
        </p:txBody>
      </p:sp>
    </p:spTree>
    <p:extLst>
      <p:ext uri="{BB962C8B-B14F-4D97-AF65-F5344CB8AC3E}">
        <p14:creationId xmlns:p14="http://schemas.microsoft.com/office/powerpoint/2010/main" val="1309357376"/>
      </p:ext>
    </p:extLst>
  </p:cSld>
</p:sld>
</file>

<file path=ppt/slides/slide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PGN preparation and exclusions">
            <a:extLst xmlns:a="http://schemas.openxmlformats.org/drawingml/2006/main">
              <a:ext uri="{FF2B5EF4-FFF2-40B4-BE49-F238E27FC236}">
                <a16:creationId xmlns:a16="http://schemas.microsoft.com/office/drawing/2014/main" id="{02614B15-4EAA-4CF4-823C-B8A711D78842}"/>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PGN preparation and exclusions</a:t>
            </a:r>
          </a:p>
        </p:txBody>
      </p:sp>
      <p:sp>
        <p:nvSpPr>
          <p:cNvPr id="2" name="Extract eight-position board history and the ">
            <a:extLst xmlns:a="http://schemas.openxmlformats.org/drawingml/2006/main">
              <a:ext uri="{FF2B5EF4-FFF2-40B4-BE49-F238E27FC236}">
                <a16:creationId xmlns:a16="http://schemas.microsoft.com/office/drawing/2014/main" id="{C832F706-FF2A-43BD-A2F0-380CB5D62B19}"/>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Extract eight-position board history and the last 16 plies.</a:t>
            </a:r>
          </a:p>
        </p:txBody>
      </p:sp>
      <p:sp>
        <p:nvSpPr>
          <p:cNvPr id="3" name="Remove duplicates and audit coverage by playe">
            <a:extLst xmlns:a="http://schemas.openxmlformats.org/drawingml/2006/main">
              <a:ext uri="{FF2B5EF4-FFF2-40B4-BE49-F238E27FC236}">
                <a16:creationId xmlns:a16="http://schemas.microsoft.com/office/drawing/2014/main" id="{7C57B758-365E-44C2-AC11-01A45F110BAB}"/>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Remove duplicates and audit coverage by player and time class.</a:t>
            </a:r>
          </a:p>
        </p:txBody>
      </p:sp>
      <p:sp>
        <p:nvSpPr>
          <p:cNvPr id="4" name="Exclude unsupported variants, staged controls">
            <a:extLst xmlns:a="http://schemas.openxmlformats.org/drawingml/2006/main">
              <a:ext uri="{FF2B5EF4-FFF2-40B4-BE49-F238E27FC236}">
                <a16:creationId xmlns:a16="http://schemas.microsoft.com/office/drawing/2014/main" id="{D5B923BF-ECE4-41E7-A33C-8633F9950675}"/>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Exclude unsupported variants, staged controls, correspondence games, and unknown dates.</a:t>
            </a:r>
          </a:p>
        </p:txBody>
      </p:sp>
      <p:sp>
        <p:nvSpPr>
          <p:cNvPr id="5" name="Keep unavailable timing labels masked rather ">
            <a:extLst xmlns:a="http://schemas.openxmlformats.org/drawingml/2006/main">
              <a:ext uri="{FF2B5EF4-FFF2-40B4-BE49-F238E27FC236}">
                <a16:creationId xmlns:a16="http://schemas.microsoft.com/office/drawing/2014/main" id="{2F437220-F460-4E85-91F1-A3C6403B3D51}"/>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Keep unavailable timing labels masked rather than inventing durations.</a:t>
            </a:r>
          </a:p>
        </p:txBody>
      </p:sp>
      <p:sp>
        <p:nvSpPr>
          <p:cNvPr id="6" name="Maia-Chess   /   05">
            <a:extLst xmlns:a="http://schemas.openxmlformats.org/drawingml/2006/main">
              <a:ext uri="{FF2B5EF4-FFF2-40B4-BE49-F238E27FC236}">
                <a16:creationId xmlns:a16="http://schemas.microsoft.com/office/drawing/2014/main" id="{59368C43-5D9C-4DAD-8507-6085DC9BEA52}"/>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05</a:t>
            </a:r>
          </a:p>
        </p:txBody>
      </p:sp>
    </p:spTree>
    <p:extLst>
      <p:ext uri="{BB962C8B-B14F-4D97-AF65-F5344CB8AC3E}">
        <p14:creationId xmlns:p14="http://schemas.microsoft.com/office/powerpoint/2010/main" val="2066825900"/>
      </p:ext>
    </p:extLst>
  </p:cSld>
</p:sld>
</file>

<file path=ppt/slides/slide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Chronological game-level splits">
            <a:extLst xmlns:a="http://schemas.openxmlformats.org/drawingml/2006/main">
              <a:ext uri="{FF2B5EF4-FFF2-40B4-BE49-F238E27FC236}">
                <a16:creationId xmlns:a16="http://schemas.microsoft.com/office/drawing/2014/main" id="{348A1C8C-921C-469F-B940-FF1F41B4BCE2}"/>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Chronological game-level splits</a:t>
            </a:r>
          </a:p>
        </p:txBody>
      </p:sp>
      <p:sp>
        <p:nvSpPr>
          <p:cNvPr id="2" name="Split entire games chronologically into train">
            <a:extLst xmlns:a="http://schemas.openxmlformats.org/drawingml/2006/main">
              <a:ext uri="{FF2B5EF4-FFF2-40B4-BE49-F238E27FC236}">
                <a16:creationId xmlns:a16="http://schemas.microsoft.com/office/drawing/2014/main" id="{605A3685-5DE6-47B7-B6EE-C55E55296D99}"/>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Split entire games chronologically into train, validation, and test.</a:t>
            </a:r>
          </a:p>
        </p:txBody>
      </p:sp>
      <p:sp>
        <p:nvSpPr>
          <p:cNvPr id="3" name="Keep both sides of a game together, including">
            <a:extLst xmlns:a="http://schemas.openxmlformats.org/drawingml/2006/main">
              <a:ext uri="{FF2B5EF4-FFF2-40B4-BE49-F238E27FC236}">
                <a16:creationId xmlns:a16="http://schemas.microsoft.com/office/drawing/2014/main" id="{8D208C82-DF10-4B1C-9946-FEBCEDF3A587}"/>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Keep both sides of a game together, including games between target players.</a:t>
            </a:r>
          </a:p>
        </p:txBody>
      </p:sp>
      <p:sp>
        <p:nvSpPr>
          <p:cNvPr id="4" name="Keep equal timestamps in the same split.">
            <a:extLst xmlns:a="http://schemas.openxmlformats.org/drawingml/2006/main">
              <a:ext uri="{FF2B5EF4-FFF2-40B4-BE49-F238E27FC236}">
                <a16:creationId xmlns:a16="http://schemas.microsoft.com/office/drawing/2014/main" id="{3259B6B9-67A3-44B1-921B-0F8E75885DAD}"/>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Keep equal timestamps in the same split.</a:t>
            </a:r>
          </a:p>
        </p:txBody>
      </p:sp>
      <p:sp>
        <p:nvSpPr>
          <p:cNvPr id="5" name="Filter to the target player before training o">
            <a:extLst xmlns:a="http://schemas.openxmlformats.org/drawingml/2006/main">
              <a:ext uri="{FF2B5EF4-FFF2-40B4-BE49-F238E27FC236}">
                <a16:creationId xmlns:a16="http://schemas.microsoft.com/office/drawing/2014/main" id="{ACDD5CCD-56D8-4333-8BCF-69C588DDE42C}"/>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Filter to the target player before training or sampling.</a:t>
            </a:r>
          </a:p>
        </p:txBody>
      </p:sp>
      <p:sp>
        <p:nvSpPr>
          <p:cNvPr id="6" name="Maia-Chess   /   06">
            <a:extLst xmlns:a="http://schemas.openxmlformats.org/drawingml/2006/main">
              <a:ext uri="{FF2B5EF4-FFF2-40B4-BE49-F238E27FC236}">
                <a16:creationId xmlns:a16="http://schemas.microsoft.com/office/drawing/2014/main" id="{6D12F317-879F-44B3-9D20-5C04EA78BAD7}"/>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06</a:t>
            </a:r>
          </a:p>
        </p:txBody>
      </p:sp>
    </p:spTree>
    <p:extLst>
      <p:ext uri="{BB962C8B-B14F-4D97-AF65-F5344CB8AC3E}">
        <p14:creationId xmlns:p14="http://schemas.microsoft.com/office/powerpoint/2010/main" val="440497246"/>
      </p:ext>
    </p:extLst>
  </p:cSld>
</p:sld>
</file>

<file path=ppt/slides/slide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Clock-consumption labels">
            <a:extLst xmlns:a="http://schemas.openxmlformats.org/drawingml/2006/main">
              <a:ext uri="{FF2B5EF4-FFF2-40B4-BE49-F238E27FC236}">
                <a16:creationId xmlns:a16="http://schemas.microsoft.com/office/drawing/2014/main" id="{F09BFEB6-998C-443C-88EE-0CF2AE7EDF4B}"/>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Clock-consumption labels</a:t>
            </a:r>
          </a:p>
        </p:txBody>
      </p:sp>
      <p:sp>
        <p:nvSpPr>
          <p:cNvPr id="2" name="duration = clock_before + increment − clock_a">
            <a:extLst xmlns:a="http://schemas.openxmlformats.org/drawingml/2006/main">
              <a:ext uri="{FF2B5EF4-FFF2-40B4-BE49-F238E27FC236}">
                <a16:creationId xmlns:a16="http://schemas.microsoft.com/office/drawing/2014/main" id="{4813F4DA-31C9-4114-B6DA-5D2D6D1EB69D}"/>
              </a:ext>
            </a:extLst>
          </p:cNvPr>
          <p:cNvSpPr>
            <a:spLocks xmlns:a="http://schemas.openxmlformats.org/drawingml/2006/main" noGrp="1"/>
          </p:cNvSpPr>
          <p:nvPr/>
        </p:nvSpPr>
        <p:spPr>
          <a:xfrm xmlns:a="http://schemas.openxmlformats.org/drawingml/2006/main">
            <a:off x="666750" y="1524000"/>
            <a:ext cx="10839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duration = clock_before + increment − clock_after</a:t>
            </a:r>
          </a:p>
        </p:txBody>
      </p:sp>
      <p:sp>
        <p:nvSpPr>
          <p:cNvPr id="3" name="For a single-stage Fischer increment, infer e">
            <a:extLst xmlns:a="http://schemas.openxmlformats.org/drawingml/2006/main">
              <a:ext uri="{FF2B5EF4-FFF2-40B4-BE49-F238E27FC236}">
                <a16:creationId xmlns:a16="http://schemas.microsoft.com/office/drawing/2014/main" id="{B2FAEED9-F047-45BD-ACC4-D8BF14F23EC4}"/>
              </a:ext>
            </a:extLst>
          </p:cNvPr>
          <p:cNvSpPr>
            <a:spLocks xmlns:a="http://schemas.openxmlformats.org/drawingml/2006/main" noGrp="1"/>
          </p:cNvSpPr>
          <p:nvPr/>
        </p:nvSpPr>
        <p:spPr>
          <a:xfrm xmlns:a="http://schemas.openxmlformats.org/drawingml/2006/main">
            <a:off x="685800" y="28575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For a single-stage Fischer increment, infer elapsed clock consumption from adjacent same-side clocks.</a:t>
            </a:r>
          </a:p>
        </p:txBody>
      </p:sp>
      <p:sp>
        <p:nvSpPr>
          <p:cNvPr id="4" name="The first move by each side has no timing lab">
            <a:extLst xmlns:a="http://schemas.openxmlformats.org/drawingml/2006/main">
              <a:ext uri="{FF2B5EF4-FFF2-40B4-BE49-F238E27FC236}">
                <a16:creationId xmlns:a16="http://schemas.microsoft.com/office/drawing/2014/main" id="{7B83AFBC-F333-42AE-9CCF-09E254D89567}"/>
              </a:ext>
            </a:extLst>
          </p:cNvPr>
          <p:cNvSpPr>
            <a:spLocks xmlns:a="http://schemas.openxmlformats.org/drawingml/2006/main" noGrp="1"/>
          </p:cNvSpPr>
          <p:nvPr/>
        </p:nvSpPr>
        <p:spPr>
          <a:xfrm xmlns:a="http://schemas.openxmlformats.org/drawingml/2006/main">
            <a:off x="685800" y="3667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The first move by each side has no timing label.</a:t>
            </a:r>
          </a:p>
        </p:txBody>
      </p:sp>
      <p:sp>
        <p:nvSpPr>
          <p:cNvPr id="5" name="A missing clock breaks the next same-side sub">
            <a:extLst xmlns:a="http://schemas.openxmlformats.org/drawingml/2006/main">
              <a:ext uri="{FF2B5EF4-FFF2-40B4-BE49-F238E27FC236}">
                <a16:creationId xmlns:a16="http://schemas.microsoft.com/office/drawing/2014/main" id="{CE115ECF-4144-48D0-8020-4F1E57B2BF64}"/>
              </a:ext>
            </a:extLst>
          </p:cNvPr>
          <p:cNvSpPr>
            <a:spLocks xmlns:a="http://schemas.openxmlformats.org/drawingml/2006/main" noGrp="1"/>
          </p:cNvSpPr>
          <p:nvPr/>
        </p:nvSpPr>
        <p:spPr>
          <a:xfrm xmlns:a="http://schemas.openxmlformats.org/drawingml/2006/main">
            <a:off x="685800" y="4476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A missing clock breaks the next same-side subtraction.</a:t>
            </a:r>
          </a:p>
        </p:txBody>
      </p:sp>
      <p:sp>
        <p:nvSpPr>
          <p:cNvPr id="6" name="Mask negative or over-budget durations.">
            <a:extLst xmlns:a="http://schemas.openxmlformats.org/drawingml/2006/main">
              <a:ext uri="{FF2B5EF4-FFF2-40B4-BE49-F238E27FC236}">
                <a16:creationId xmlns:a16="http://schemas.microsoft.com/office/drawing/2014/main" id="{1420CFF7-C338-4EC5-A6B2-F99829B3A64C}"/>
              </a:ext>
            </a:extLst>
          </p:cNvPr>
          <p:cNvSpPr>
            <a:spLocks xmlns:a="http://schemas.openxmlformats.org/drawingml/2006/main" noGrp="1"/>
          </p:cNvSpPr>
          <p:nvPr/>
        </p:nvSpPr>
        <p:spPr>
          <a:xfrm xmlns:a="http://schemas.openxmlformats.org/drawingml/2006/main">
            <a:off x="685800" y="5286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Mask negative or over-budget durations.</a:t>
            </a:r>
          </a:p>
        </p:txBody>
      </p:sp>
      <p:sp>
        <p:nvSpPr>
          <p:cNvPr id="7" name="Maia-Chess   /   07">
            <a:extLst xmlns:a="http://schemas.openxmlformats.org/drawingml/2006/main">
              <a:ext uri="{FF2B5EF4-FFF2-40B4-BE49-F238E27FC236}">
                <a16:creationId xmlns:a16="http://schemas.microsoft.com/office/drawing/2014/main" id="{C9892719-B2E4-4571-8B40-EDD5F8C11346}"/>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07</a:t>
            </a:r>
          </a:p>
        </p:txBody>
      </p:sp>
    </p:spTree>
    <p:extLst>
      <p:ext uri="{BB962C8B-B14F-4D97-AF65-F5344CB8AC3E}">
        <p14:creationId xmlns:p14="http://schemas.microsoft.com/office/powerpoint/2010/main" val="1997895211"/>
      </p:ext>
    </p:extLst>
  </p:cSld>
</p:sld>
</file>

<file path=ppt/slides/slide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Relative-duration bins">
            <a:extLst xmlns:a="http://schemas.openxmlformats.org/drawingml/2006/main">
              <a:ext uri="{FF2B5EF4-FFF2-40B4-BE49-F238E27FC236}">
                <a16:creationId xmlns:a16="http://schemas.microsoft.com/office/drawing/2014/main" id="{D4EBCBDD-F320-4A9E-BF6A-D0470395C582}"/>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Relative-duration bins</a:t>
            </a:r>
          </a:p>
        </p:txBody>
      </p:sp>
      <p:sp>
        <p:nvSpPr>
          <p:cNvPr id="2" name="relative duration = duration / clock_before">
            <a:extLst xmlns:a="http://schemas.openxmlformats.org/drawingml/2006/main">
              <a:ext uri="{FF2B5EF4-FFF2-40B4-BE49-F238E27FC236}">
                <a16:creationId xmlns:a16="http://schemas.microsoft.com/office/drawing/2014/main" id="{241E53F3-0E9D-4B32-B024-726963F3B1C2}"/>
              </a:ext>
            </a:extLst>
          </p:cNvPr>
          <p:cNvSpPr>
            <a:spLocks xmlns:a="http://schemas.openxmlformats.org/drawingml/2006/main" noGrp="1"/>
          </p:cNvSpPr>
          <p:nvPr/>
        </p:nvSpPr>
        <p:spPr>
          <a:xfrm xmlns:a="http://schemas.openxmlformats.org/drawingml/2006/main">
            <a:off x="666750" y="1524000"/>
            <a:ext cx="10839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relative duration = duration / clock_before</a:t>
            </a:r>
          </a:p>
        </p:txBody>
      </p:sp>
      <p:sp>
        <p:nvSpPr>
          <p:cNvPr id="3" name="Normalize duration by the clock available bef">
            <a:extLst xmlns:a="http://schemas.openxmlformats.org/drawingml/2006/main">
              <a:ext uri="{FF2B5EF4-FFF2-40B4-BE49-F238E27FC236}">
                <a16:creationId xmlns:a16="http://schemas.microsoft.com/office/drawing/2014/main" id="{A0EFC5DD-3737-4979-9836-F07AE00FDC62}"/>
              </a:ext>
            </a:extLst>
          </p:cNvPr>
          <p:cNvSpPr>
            <a:spLocks xmlns:a="http://schemas.openxmlformats.org/drawingml/2006/main" noGrp="1"/>
          </p:cNvSpPr>
          <p:nvPr/>
        </p:nvSpPr>
        <p:spPr>
          <a:xfrm xmlns:a="http://schemas.openxmlformats.org/drawingml/2006/main">
            <a:off x="685800" y="28575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Normalize duration by the clock available before the move.</a:t>
            </a:r>
          </a:p>
        </p:txBody>
      </p:sp>
      <p:sp>
        <p:nvSpPr>
          <p:cNvPr id="4" name="Use 32 bins from near-instant play to the rem">
            <a:extLst xmlns:a="http://schemas.openxmlformats.org/drawingml/2006/main">
              <a:ext uri="{FF2B5EF4-FFF2-40B4-BE49-F238E27FC236}">
                <a16:creationId xmlns:a16="http://schemas.microsoft.com/office/drawing/2014/main" id="{FA9BEA5F-1BD4-4E25-99D3-C037ECE55161}"/>
              </a:ext>
            </a:extLst>
          </p:cNvPr>
          <p:cNvSpPr>
            <a:spLocks xmlns:a="http://schemas.openxmlformats.org/drawingml/2006/main" noGrp="1"/>
          </p:cNvSpPr>
          <p:nvPr/>
        </p:nvSpPr>
        <p:spPr>
          <a:xfrm xmlns:a="http://schemas.openxmlformats.org/drawingml/2006/main">
            <a:off x="685800" y="3667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Use 32 bins from near-instant play to the remaining budget.</a:t>
            </a:r>
          </a:p>
        </p:txBody>
      </p:sp>
      <p:sp>
        <p:nvSpPr>
          <p:cNvPr id="5" name="The first interval is [0, 0.0001), followed b">
            <a:extLst xmlns:a="http://schemas.openxmlformats.org/drawingml/2006/main">
              <a:ext uri="{FF2B5EF4-FFF2-40B4-BE49-F238E27FC236}">
                <a16:creationId xmlns:a16="http://schemas.microsoft.com/office/drawing/2014/main" id="{FC4A197B-9FD4-48A3-A080-25DE67BE354F}"/>
              </a:ext>
            </a:extLst>
          </p:cNvPr>
          <p:cNvSpPr>
            <a:spLocks xmlns:a="http://schemas.openxmlformats.org/drawingml/2006/main" noGrp="1"/>
          </p:cNvSpPr>
          <p:nvPr/>
        </p:nvSpPr>
        <p:spPr>
          <a:xfrm xmlns:a="http://schemas.openxmlformats.org/drawingml/2006/main">
            <a:off x="685800" y="4476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The first interval is [0, 0.0001), followed by logarithmic intervals up to one.</a:t>
            </a:r>
          </a:p>
        </p:txBody>
      </p:sp>
      <p:sp>
        <p:nvSpPr>
          <p:cNvPr id="6" name="Bin centers approximate means and medians in ">
            <a:extLst xmlns:a="http://schemas.openxmlformats.org/drawingml/2006/main">
              <a:ext uri="{FF2B5EF4-FFF2-40B4-BE49-F238E27FC236}">
                <a16:creationId xmlns:a16="http://schemas.microsoft.com/office/drawing/2014/main" id="{8AA6CFE6-24C8-4668-B7E9-1F8481C636ED}"/>
              </a:ext>
            </a:extLst>
          </p:cNvPr>
          <p:cNvSpPr>
            <a:spLocks xmlns:a="http://schemas.openxmlformats.org/drawingml/2006/main" noGrp="1"/>
          </p:cNvSpPr>
          <p:nvPr/>
        </p:nvSpPr>
        <p:spPr>
          <a:xfrm xmlns:a="http://schemas.openxmlformats.org/drawingml/2006/main">
            <a:off x="685800" y="5286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Bin centers approximate means and medians in seconds.</a:t>
            </a:r>
          </a:p>
        </p:txBody>
      </p:sp>
      <p:sp>
        <p:nvSpPr>
          <p:cNvPr id="7" name="Maia-Chess   /   08">
            <a:extLst xmlns:a="http://schemas.openxmlformats.org/drawingml/2006/main">
              <a:ext uri="{FF2B5EF4-FFF2-40B4-BE49-F238E27FC236}">
                <a16:creationId xmlns:a16="http://schemas.microsoft.com/office/drawing/2014/main" id="{1070186A-CC16-4063-A9C4-B4112E6C5D5C}"/>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08</a:t>
            </a:r>
          </a:p>
        </p:txBody>
      </p:sp>
    </p:spTree>
    <p:extLst>
      <p:ext uri="{BB962C8B-B14F-4D97-AF65-F5344CB8AC3E}">
        <p14:creationId xmlns:p14="http://schemas.microsoft.com/office/powerpoint/2010/main" val="2036515367"/>
      </p:ext>
    </p:extLst>
  </p:cSld>
</p:sld>
</file>

<file path=ppt/slides/slide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Frozen Maia representations">
            <a:extLst xmlns:a="http://schemas.openxmlformats.org/drawingml/2006/main">
              <a:ext uri="{FF2B5EF4-FFF2-40B4-BE49-F238E27FC236}">
                <a16:creationId xmlns:a16="http://schemas.microsoft.com/office/drawing/2014/main" id="{6F56873E-D4BF-4C98-AA88-75C13452DCEF}"/>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Frozen Maia representations</a:t>
            </a:r>
          </a:p>
        </p:txBody>
      </p:sp>
      <p:sp>
        <p:nvSpPr>
          <p:cNvPr id="2" name="Load the pinned Maia-3 5M implementation and ">
            <a:extLst xmlns:a="http://schemas.openxmlformats.org/drawingml/2006/main">
              <a:ext uri="{FF2B5EF4-FFF2-40B4-BE49-F238E27FC236}">
                <a16:creationId xmlns:a16="http://schemas.microsoft.com/office/drawing/2014/main" id="{C665F70C-0C8C-4E96-AEEF-E2CA277AE0AB}"/>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Load the pinned Maia-3 5M implementation and compatible checkpoint.</a:t>
            </a:r>
          </a:p>
        </p:txBody>
      </p:sp>
      <p:sp>
        <p:nvSpPr>
          <p:cNvPr id="3" name="Extract 64 square representations and legal c">
            <a:extLst xmlns:a="http://schemas.openxmlformats.org/drawingml/2006/main">
              <a:ext uri="{FF2B5EF4-FFF2-40B4-BE49-F238E27FC236}">
                <a16:creationId xmlns:a16="http://schemas.microsoft.com/office/drawing/2014/main" id="{733B5DDE-3039-4BE4-8BD1-F91D27CA2182}"/>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Extract 64 square representations and legal candidate logits.</a:t>
            </a:r>
          </a:p>
        </p:txBody>
      </p:sp>
      <p:sp>
        <p:nvSpPr>
          <p:cNvPr id="4" name="Keep backbone parameters frozen.">
            <a:extLst xmlns:a="http://schemas.openxmlformats.org/drawingml/2006/main">
              <a:ext uri="{FF2B5EF4-FFF2-40B4-BE49-F238E27FC236}">
                <a16:creationId xmlns:a16="http://schemas.microsoft.com/office/drawing/2014/main" id="{EF08E3F3-33BC-44D1-A548-1610A3EB3617}"/>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Keep backbone parameters frozen.</a:t>
            </a:r>
          </a:p>
        </p:txBody>
      </p:sp>
      <p:sp>
        <p:nvSpPr>
          <p:cNvPr id="5" name="Use the upstream move vocabulary and tokeniza">
            <a:extLst xmlns:a="http://schemas.openxmlformats.org/drawingml/2006/main">
              <a:ext uri="{FF2B5EF4-FFF2-40B4-BE49-F238E27FC236}">
                <a16:creationId xmlns:a16="http://schemas.microsoft.com/office/drawing/2014/main" id="{414F4E8A-6213-4F0A-B31C-B735B3DA7E6D}"/>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Use the upstream move vocabulary and tokenization, including promotions.</a:t>
            </a:r>
          </a:p>
        </p:txBody>
      </p:sp>
      <p:sp>
        <p:nvSpPr>
          <p:cNvPr id="6" name="Maia-Chess   /   09">
            <a:extLst xmlns:a="http://schemas.openxmlformats.org/drawingml/2006/main">
              <a:ext uri="{FF2B5EF4-FFF2-40B4-BE49-F238E27FC236}">
                <a16:creationId xmlns:a16="http://schemas.microsoft.com/office/drawing/2014/main" id="{FA2F8A9A-2A41-4BA6-9A50-F855D7FDABC8}"/>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09</a:t>
            </a:r>
          </a:p>
        </p:txBody>
      </p:sp>
    </p:spTree>
    <p:extLst>
      <p:ext uri="{BB962C8B-B14F-4D97-AF65-F5344CB8AC3E}">
        <p14:creationId xmlns:p14="http://schemas.microsoft.com/office/powerpoint/2010/main" val="1588110753"/>
      </p:ext>
    </p:extLst>
  </p:cSld>
</p:sld>
</file>

<file path=ppt/slides/slide1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History and context encoding">
            <a:extLst xmlns:a="http://schemas.openxmlformats.org/drawingml/2006/main">
              <a:ext uri="{FF2B5EF4-FFF2-40B4-BE49-F238E27FC236}">
                <a16:creationId xmlns:a16="http://schemas.microsoft.com/office/drawing/2014/main" id="{E080673D-058C-4E52-87B5-98D2715C2747}"/>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History and context encoding</a:t>
            </a:r>
          </a:p>
        </p:txBody>
      </p:sp>
      <p:sp>
        <p:nvSpPr>
          <p:cNvPr id="2" name="Encode source and destination squares, promot">
            <a:extLst xmlns:a="http://schemas.openxmlformats.org/drawingml/2006/main">
              <a:ext uri="{FF2B5EF4-FFF2-40B4-BE49-F238E27FC236}">
                <a16:creationId xmlns:a16="http://schemas.microsoft.com/office/drawing/2014/main" id="{EF4014CA-08C3-4AD6-A691-56A8734F17AD}"/>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Encode source and destination squares, promotion, side, past duration, and missingness.</a:t>
            </a:r>
          </a:p>
        </p:txBody>
      </p:sp>
      <p:sp>
        <p:nvSpPr>
          <p:cNvPr id="3" name="A 64-dimensional GRU summarizes the last 16 p">
            <a:extLst xmlns:a="http://schemas.openxmlformats.org/drawingml/2006/main">
              <a:ext uri="{FF2B5EF4-FFF2-40B4-BE49-F238E27FC236}">
                <a16:creationId xmlns:a16="http://schemas.microsoft.com/office/drawing/2014/main" id="{F66962DF-147E-4A69-8C7B-DCF9566DB174}"/>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A 64-dimensional GRU summarizes the last 16 plies.</a:t>
            </a:r>
          </a:p>
        </p:txBody>
      </p:sp>
      <p:sp>
        <p:nvSpPr>
          <p:cNvPr id="4" name="Fuse pooled board features with 15 numeric co">
            <a:extLst xmlns:a="http://schemas.openxmlformats.org/drawingml/2006/main">
              <a:ext uri="{FF2B5EF4-FFF2-40B4-BE49-F238E27FC236}">
                <a16:creationId xmlns:a16="http://schemas.microsoft.com/office/drawing/2014/main" id="{D3550D68-B7FB-4588-92B4-C94132DD432A}"/>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Fuse pooled board features with 15 numeric context features and a 32-dimensional player embedding.</a:t>
            </a:r>
          </a:p>
        </p:txBody>
      </p:sp>
      <p:sp>
        <p:nvSpPr>
          <p:cNvPr id="5" name="Project the combined context to 128 dimension">
            <a:extLst xmlns:a="http://schemas.openxmlformats.org/drawingml/2006/main">
              <a:ext uri="{FF2B5EF4-FFF2-40B4-BE49-F238E27FC236}">
                <a16:creationId xmlns:a16="http://schemas.microsoft.com/office/drawing/2014/main" id="{DAFA8755-E1DB-48E4-AA9E-FB8C30027408}"/>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Project the combined context to 128 dimensions.</a:t>
            </a:r>
          </a:p>
        </p:txBody>
      </p:sp>
      <p:sp>
        <p:nvSpPr>
          <p:cNvPr id="6" name="Maia-Chess   /   10">
            <a:extLst xmlns:a="http://schemas.openxmlformats.org/drawingml/2006/main">
              <a:ext uri="{FF2B5EF4-FFF2-40B4-BE49-F238E27FC236}">
                <a16:creationId xmlns:a16="http://schemas.microsoft.com/office/drawing/2014/main" id="{39844380-AFBF-4706-8FC0-A2B4BC4A1DF9}"/>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10</a:t>
            </a:r>
          </a:p>
        </p:txBody>
      </p:sp>
    </p:spTree>
    <p:extLst>
      <p:ext uri="{BB962C8B-B14F-4D97-AF65-F5344CB8AC3E}">
        <p14:creationId xmlns:p14="http://schemas.microsoft.com/office/powerpoint/2010/main" val="511835762"/>
      </p:ext>
    </p:extLst>
  </p:cSld>
</p:sld>
</file>

<file path=ppt/slides/slide1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Player adapter and legal-move scorer">
            <a:extLst xmlns:a="http://schemas.openxmlformats.org/drawingml/2006/main">
              <a:ext uri="{FF2B5EF4-FFF2-40B4-BE49-F238E27FC236}">
                <a16:creationId xmlns:a16="http://schemas.microsoft.com/office/drawing/2014/main" id="{F4688A1B-7FC8-4B3D-8711-5B3FB2924BFE}"/>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Player adapter and legal-move scorer</a:t>
            </a:r>
          </a:p>
        </p:txBody>
      </p:sp>
      <p:sp>
        <p:nvSpPr>
          <p:cNvPr id="2" name="P(move | x,p) = softmax(base logits + learned">
            <a:extLst xmlns:a="http://schemas.openxmlformats.org/drawingml/2006/main">
              <a:ext uri="{FF2B5EF4-FFF2-40B4-BE49-F238E27FC236}">
                <a16:creationId xmlns:a16="http://schemas.microsoft.com/office/drawing/2014/main" id="{7486221B-E481-4275-8B3A-99A68DEDB5FB}"/>
              </a:ext>
            </a:extLst>
          </p:cNvPr>
          <p:cNvSpPr>
            <a:spLocks xmlns:a="http://schemas.openxmlformats.org/drawingml/2006/main" noGrp="1"/>
          </p:cNvSpPr>
          <p:nvPr/>
        </p:nvSpPr>
        <p:spPr>
          <a:xfrm xmlns:a="http://schemas.openxmlformats.org/drawingml/2006/main">
            <a:off x="666750" y="1524000"/>
            <a:ext cx="10839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P(move | x,p) = softmax(base logits + learned correction)</a:t>
            </a:r>
          </a:p>
        </p:txBody>
      </p:sp>
      <p:sp>
        <p:nvSpPr>
          <p:cNvPr id="3" name="Use a residual adapter with dimensions 128, 3">
            <a:extLst xmlns:a="http://schemas.openxmlformats.org/drawingml/2006/main">
              <a:ext uri="{FF2B5EF4-FFF2-40B4-BE49-F238E27FC236}">
                <a16:creationId xmlns:a16="http://schemas.microsoft.com/office/drawing/2014/main" id="{9F2986AC-A427-4381-8222-CCDF7C61055F}"/>
              </a:ext>
            </a:extLst>
          </p:cNvPr>
          <p:cNvSpPr>
            <a:spLocks xmlns:a="http://schemas.openxmlformats.org/drawingml/2006/main" noGrp="1"/>
          </p:cNvSpPr>
          <p:nvPr/>
        </p:nvSpPr>
        <p:spPr>
          <a:xfrm xmlns:a="http://schemas.openxmlformats.org/drawingml/2006/main">
            <a:off x="685800" y="28575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Use a residual adapter with dimensions 128, 32, and 128.</a:t>
            </a:r>
          </a:p>
        </p:txBody>
      </p:sp>
      <p:sp>
        <p:nvSpPr>
          <p:cNvPr id="4" name="Combine adapted context with each legal move’">
            <a:extLst xmlns:a="http://schemas.openxmlformats.org/drawingml/2006/main">
              <a:ext uri="{FF2B5EF4-FFF2-40B4-BE49-F238E27FC236}">
                <a16:creationId xmlns:a16="http://schemas.microsoft.com/office/drawing/2014/main" id="{2DB7043C-2147-4699-AC93-FEE117C9C384}"/>
              </a:ext>
            </a:extLst>
          </p:cNvPr>
          <p:cNvSpPr>
            <a:spLocks xmlns:a="http://schemas.openxmlformats.org/drawingml/2006/main" noGrp="1"/>
          </p:cNvSpPr>
          <p:nvPr/>
        </p:nvSpPr>
        <p:spPr>
          <a:xfrm xmlns:a="http://schemas.openxmlformats.org/drawingml/2006/main">
            <a:off x="685800" y="3667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Combine adapted context with each legal move’s square and promotion features.</a:t>
            </a:r>
          </a:p>
        </p:txBody>
      </p:sp>
      <p:sp>
        <p:nvSpPr>
          <p:cNvPr id="5" name="Predict a scalar correction to its base polic">
            <a:extLst xmlns:a="http://schemas.openxmlformats.org/drawingml/2006/main">
              <a:ext uri="{FF2B5EF4-FFF2-40B4-BE49-F238E27FC236}">
                <a16:creationId xmlns:a16="http://schemas.microsoft.com/office/drawing/2014/main" id="{58DAB9DC-AA13-4E62-A25D-BA5DDC075B9D}"/>
              </a:ext>
            </a:extLst>
          </p:cNvPr>
          <p:cNvSpPr>
            <a:spLocks xmlns:a="http://schemas.openxmlformats.org/drawingml/2006/main" noGrp="1"/>
          </p:cNvSpPr>
          <p:nvPr/>
        </p:nvSpPr>
        <p:spPr>
          <a:xfrm xmlns:a="http://schemas.openxmlformats.org/drawingml/2006/main">
            <a:off x="685800" y="4476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Predict a scalar correction to its base policy logit.</a:t>
            </a:r>
          </a:p>
        </p:txBody>
      </p:sp>
      <p:sp>
        <p:nvSpPr>
          <p:cNvPr id="6" name="Initialize the policy correction to zero.">
            <a:extLst xmlns:a="http://schemas.openxmlformats.org/drawingml/2006/main">
              <a:ext uri="{FF2B5EF4-FFF2-40B4-BE49-F238E27FC236}">
                <a16:creationId xmlns:a16="http://schemas.microsoft.com/office/drawing/2014/main" id="{7A224F92-BF93-4DAA-BD4D-740FC7F7D02A}"/>
              </a:ext>
            </a:extLst>
          </p:cNvPr>
          <p:cNvSpPr>
            <a:spLocks xmlns:a="http://schemas.openxmlformats.org/drawingml/2006/main" noGrp="1"/>
          </p:cNvSpPr>
          <p:nvPr/>
        </p:nvSpPr>
        <p:spPr>
          <a:xfrm xmlns:a="http://schemas.openxmlformats.org/drawingml/2006/main">
            <a:off x="685800" y="5286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Initialize the policy correction to zero.</a:t>
            </a:r>
          </a:p>
        </p:txBody>
      </p:sp>
      <p:sp>
        <p:nvSpPr>
          <p:cNvPr id="7" name="Maia-Chess   /   11">
            <a:extLst xmlns:a="http://schemas.openxmlformats.org/drawingml/2006/main">
              <a:ext uri="{FF2B5EF4-FFF2-40B4-BE49-F238E27FC236}">
                <a16:creationId xmlns:a16="http://schemas.microsoft.com/office/drawing/2014/main" id="{1408D4E3-7BD4-4662-BD97-DD0CEFA70B00}"/>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11</a:t>
            </a:r>
          </a:p>
        </p:txBody>
      </p:sp>
    </p:spTree>
    <p:extLst>
      <p:ext uri="{BB962C8B-B14F-4D97-AF65-F5344CB8AC3E}">
        <p14:creationId xmlns:p14="http://schemas.microsoft.com/office/powerpoint/2010/main" val="86567049"/>
      </p:ext>
    </p:extLst>
  </p:cSld>
</p:sld>
</file>

<file path=ppt/slides/slide1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Move-conditioned timing head">
            <a:extLst xmlns:a="http://schemas.openxmlformats.org/drawingml/2006/main">
              <a:ext uri="{FF2B5EF4-FFF2-40B4-BE49-F238E27FC236}">
                <a16:creationId xmlns:a16="http://schemas.microsoft.com/office/drawing/2014/main" id="{385EEABC-7405-449B-857F-4833CA5492C8}"/>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Move-conditioned timing head</a:t>
            </a:r>
          </a:p>
        </p:txBody>
      </p:sp>
      <p:sp>
        <p:nvSpPr>
          <p:cNvPr id="2" name="Project each candidate representation through">
            <a:extLst xmlns:a="http://schemas.openxmlformats.org/drawingml/2006/main">
              <a:ext uri="{FF2B5EF4-FFF2-40B4-BE49-F238E27FC236}">
                <a16:creationId xmlns:a16="http://schemas.microsoft.com/office/drawing/2014/main" id="{12193193-719D-46A8-81A5-C2339DEEF6C4}"/>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Project each candidate representation through 128, 64, and 32 output dimensions.</a:t>
            </a:r>
          </a:p>
        </p:txBody>
      </p:sp>
      <p:sp>
        <p:nvSpPr>
          <p:cNvPr id="3" name="Softmax produces a distribution over relative">
            <a:extLst xmlns:a="http://schemas.openxmlformats.org/drawingml/2006/main">
              <a:ext uri="{FF2B5EF4-FFF2-40B4-BE49-F238E27FC236}">
                <a16:creationId xmlns:a16="http://schemas.microsoft.com/office/drawing/2014/main" id="{E954026B-5D50-4F8F-A6EB-BF8C50E04B19}"/>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Softmax produces a distribution over relative-duration bins.</a:t>
            </a:r>
          </a:p>
        </p:txBody>
      </p:sp>
      <p:sp>
        <p:nvSpPr>
          <p:cNvPr id="4" name="Training conditions timing loss on the observ">
            <a:extLst xmlns:a="http://schemas.openxmlformats.org/drawingml/2006/main">
              <a:ext uri="{FF2B5EF4-FFF2-40B4-BE49-F238E27FC236}">
                <a16:creationId xmlns:a16="http://schemas.microsoft.com/office/drawing/2014/main" id="{2644DD18-BBD1-44F8-AC0F-8D48BA650B4F}"/>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Training conditions timing loss on the observed move when a valid label exists.</a:t>
            </a:r>
          </a:p>
        </p:txBody>
      </p:sp>
      <p:sp>
        <p:nvSpPr>
          <p:cNvPr id="5" name="Policy learning can use positions without tim">
            <a:extLst xmlns:a="http://schemas.openxmlformats.org/drawingml/2006/main">
              <a:ext uri="{FF2B5EF4-FFF2-40B4-BE49-F238E27FC236}">
                <a16:creationId xmlns:a16="http://schemas.microsoft.com/office/drawing/2014/main" id="{1D78B7D1-E3A8-4C4E-95ED-B1348211CAA6}"/>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Policy learning can use positions without timing labels.</a:t>
            </a:r>
          </a:p>
        </p:txBody>
      </p:sp>
      <p:sp>
        <p:nvSpPr>
          <p:cNvPr id="6" name="Maia-Chess   /   12">
            <a:extLst xmlns:a="http://schemas.openxmlformats.org/drawingml/2006/main">
              <a:ext uri="{FF2B5EF4-FFF2-40B4-BE49-F238E27FC236}">
                <a16:creationId xmlns:a16="http://schemas.microsoft.com/office/drawing/2014/main" id="{D5A52443-B678-4B20-8C35-0F3F1A1A3672}"/>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12</a:t>
            </a:r>
          </a:p>
        </p:txBody>
      </p:sp>
    </p:spTree>
    <p:extLst>
      <p:ext uri="{BB962C8B-B14F-4D97-AF65-F5344CB8AC3E}">
        <p14:creationId xmlns:p14="http://schemas.microsoft.com/office/powerpoint/2010/main" val="237147178"/>
      </p:ext>
    </p:extLst>
  </p:cSld>
</p:sld>
</file>

<file path=ppt/slides/slide1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Training objective">
            <a:extLst xmlns:a="http://schemas.openxmlformats.org/drawingml/2006/main">
              <a:ext uri="{FF2B5EF4-FFF2-40B4-BE49-F238E27FC236}">
                <a16:creationId xmlns:a16="http://schemas.microsoft.com/office/drawing/2014/main" id="{0291163D-8F67-45E3-8E2B-D2AA1367FDD7}"/>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Training objective</a:t>
            </a:r>
          </a:p>
        </p:txBody>
      </p:sp>
      <p:sp>
        <p:nvSpPr>
          <p:cNvPr id="2" name="L = CE_move + 0.5 CE_time + 0.02 KL(base ‖ ad">
            <a:extLst xmlns:a="http://schemas.openxmlformats.org/drawingml/2006/main">
              <a:ext uri="{FF2B5EF4-FFF2-40B4-BE49-F238E27FC236}">
                <a16:creationId xmlns:a16="http://schemas.microsoft.com/office/drawing/2014/main" id="{ED65050E-49E2-45B5-ABEA-D9081BF04A80}"/>
              </a:ext>
            </a:extLst>
          </p:cNvPr>
          <p:cNvSpPr>
            <a:spLocks xmlns:a="http://schemas.openxmlformats.org/drawingml/2006/main" noGrp="1"/>
          </p:cNvSpPr>
          <p:nvPr/>
        </p:nvSpPr>
        <p:spPr>
          <a:xfrm xmlns:a="http://schemas.openxmlformats.org/drawingml/2006/main">
            <a:off x="666750" y="1524000"/>
            <a:ext cx="10839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L = CE_move + 0.5 CE_time + 0.02 KL(base ‖ adapted)</a:t>
            </a:r>
          </a:p>
        </p:txBody>
      </p:sp>
      <p:sp>
        <p:nvSpPr>
          <p:cNvPr id="3" name="Use legal-move cross-entropy and masked condi">
            <a:extLst xmlns:a="http://schemas.openxmlformats.org/drawingml/2006/main">
              <a:ext uri="{FF2B5EF4-FFF2-40B4-BE49-F238E27FC236}">
                <a16:creationId xmlns:a16="http://schemas.microsoft.com/office/drawing/2014/main" id="{28781D39-5074-4EC6-98EA-2B21DAE12164}"/>
              </a:ext>
            </a:extLst>
          </p:cNvPr>
          <p:cNvSpPr>
            <a:spLocks xmlns:a="http://schemas.openxmlformats.org/drawingml/2006/main" noGrp="1"/>
          </p:cNvSpPr>
          <p:nvPr/>
        </p:nvSpPr>
        <p:spPr>
          <a:xfrm xmlns:a="http://schemas.openxmlformats.org/drawingml/2006/main">
            <a:off x="685800" y="28575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Use legal-move cross-entropy and masked conditional timing cross-entropy.</a:t>
            </a:r>
          </a:p>
        </p:txBody>
      </p:sp>
      <p:sp>
        <p:nvSpPr>
          <p:cNvPr id="4" name="Regularize the adapted policy toward the froz">
            <a:extLst xmlns:a="http://schemas.openxmlformats.org/drawingml/2006/main">
              <a:ext uri="{FF2B5EF4-FFF2-40B4-BE49-F238E27FC236}">
                <a16:creationId xmlns:a16="http://schemas.microsoft.com/office/drawing/2014/main" id="{F8DC6430-989C-4C2D-9F0F-B40D2382427B}"/>
              </a:ext>
            </a:extLst>
          </p:cNvPr>
          <p:cNvSpPr>
            <a:spLocks xmlns:a="http://schemas.openxmlformats.org/drawingml/2006/main" noGrp="1"/>
          </p:cNvSpPr>
          <p:nvPr/>
        </p:nvSpPr>
        <p:spPr>
          <a:xfrm xmlns:a="http://schemas.openxmlformats.org/drawingml/2006/main">
            <a:off x="685800" y="3667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Regularize the adapted policy toward the frozen base distribution.</a:t>
            </a:r>
          </a:p>
        </p:txBody>
      </p:sp>
      <p:sp>
        <p:nvSpPr>
          <p:cNvPr id="5" name="Default weights are 0.5 for timing and 0.02 f">
            <a:extLst xmlns:a="http://schemas.openxmlformats.org/drawingml/2006/main">
              <a:ext uri="{FF2B5EF4-FFF2-40B4-BE49-F238E27FC236}">
                <a16:creationId xmlns:a16="http://schemas.microsoft.com/office/drawing/2014/main" id="{3FDB43DD-10F5-4491-A0AE-EBA7B86F1A21}"/>
              </a:ext>
            </a:extLst>
          </p:cNvPr>
          <p:cNvSpPr>
            <a:spLocks xmlns:a="http://schemas.openxmlformats.org/drawingml/2006/main" noGrp="1"/>
          </p:cNvSpPr>
          <p:nvPr/>
        </p:nvSpPr>
        <p:spPr>
          <a:xfrm xmlns:a="http://schemas.openxmlformats.org/drawingml/2006/main">
            <a:off x="685800" y="4476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Default weights are 0.5 for timing and 0.02 for KL.</a:t>
            </a:r>
          </a:p>
        </p:txBody>
      </p:sp>
      <p:sp>
        <p:nvSpPr>
          <p:cNvPr id="6" name="AdamW uses learning rate 0.0003 and gradient ">
            <a:extLst xmlns:a="http://schemas.openxmlformats.org/drawingml/2006/main">
              <a:ext uri="{FF2B5EF4-FFF2-40B4-BE49-F238E27FC236}">
                <a16:creationId xmlns:a16="http://schemas.microsoft.com/office/drawing/2014/main" id="{51E61DFB-58B4-42B5-92A0-F805BB3895DC}"/>
              </a:ext>
            </a:extLst>
          </p:cNvPr>
          <p:cNvSpPr>
            <a:spLocks xmlns:a="http://schemas.openxmlformats.org/drawingml/2006/main" noGrp="1"/>
          </p:cNvSpPr>
          <p:nvPr/>
        </p:nvSpPr>
        <p:spPr>
          <a:xfrm xmlns:a="http://schemas.openxmlformats.org/drawingml/2006/main">
            <a:off x="685800" y="5286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AdamW uses learning rate 0.0003 and gradient clipping 1.0.</a:t>
            </a:r>
          </a:p>
        </p:txBody>
      </p:sp>
      <p:sp>
        <p:nvSpPr>
          <p:cNvPr id="7" name="Maia-Chess   /   13">
            <a:extLst xmlns:a="http://schemas.openxmlformats.org/drawingml/2006/main">
              <a:ext uri="{FF2B5EF4-FFF2-40B4-BE49-F238E27FC236}">
                <a16:creationId xmlns:a16="http://schemas.microsoft.com/office/drawing/2014/main" id="{5AF60C7C-0EE4-4D5C-B65D-37DA07CE262F}"/>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13</a:t>
            </a:r>
          </a:p>
        </p:txBody>
      </p:sp>
    </p:spTree>
    <p:extLst>
      <p:ext uri="{BB962C8B-B14F-4D97-AF65-F5344CB8AC3E}">
        <p14:creationId xmlns:p14="http://schemas.microsoft.com/office/powerpoint/2010/main" val="139681286"/>
      </p:ext>
    </p:extLst>
  </p:cSld>
</p:sld>
</file>

<file path=ppt/slides/slide1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Budgeted training and checkpoints">
            <a:extLst xmlns:a="http://schemas.openxmlformats.org/drawingml/2006/main">
              <a:ext uri="{FF2B5EF4-FFF2-40B4-BE49-F238E27FC236}">
                <a16:creationId xmlns:a16="http://schemas.microsoft.com/office/drawing/2014/main" id="{0290C6C8-48C5-440D-B840-BFC25F711CF9}"/>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Budgeted training and checkpoints</a:t>
            </a:r>
          </a:p>
        </p:txBody>
      </p:sp>
      <p:sp>
        <p:nvSpPr>
          <p:cNvPr id="2" name="An explicit update budget overrides epoch cou">
            <a:extLst xmlns:a="http://schemas.openxmlformats.org/drawingml/2006/main">
              <a:ext uri="{FF2B5EF4-FFF2-40B4-BE49-F238E27FC236}">
                <a16:creationId xmlns:a16="http://schemas.microsoft.com/office/drawing/2014/main" id="{0C97AFF1-FFD9-46DC-A4CA-0D38AC9C0380}"/>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An explicit update budget overrides epoch count.</a:t>
            </a:r>
          </a:p>
        </p:txBody>
      </p:sp>
      <p:sp>
        <p:nvSpPr>
          <p:cNvPr id="3" name="Validate at fixed successful-update intervals">
            <a:extLst xmlns:a="http://schemas.openxmlformats.org/drawingml/2006/main">
              <a:ext uri="{FF2B5EF4-FFF2-40B4-BE49-F238E27FC236}">
                <a16:creationId xmlns:a16="http://schemas.microsoft.com/office/drawing/2014/main" id="{CDFFCDA0-48BC-4E22-9EDE-22096F5A4375}"/>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Validate at fixed successful-update intervals and at the final update.</a:t>
            </a:r>
          </a:p>
        </p:txBody>
      </p:sp>
      <p:sp>
        <p:nvSpPr>
          <p:cNvPr id="4" name="best.pt uses combined move and marginal-timin">
            <a:extLst xmlns:a="http://schemas.openxmlformats.org/drawingml/2006/main">
              <a:ext uri="{FF2B5EF4-FFF2-40B4-BE49-F238E27FC236}">
                <a16:creationId xmlns:a16="http://schemas.microsoft.com/office/drawing/2014/main" id="{ABEC4813-629A-4D1E-9BD3-63C3B1293FE0}"/>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best.pt uses combined move and marginal-timing validation score.</a:t>
            </a:r>
          </a:p>
        </p:txBody>
      </p:sp>
      <p:sp>
        <p:nvSpPr>
          <p:cNvPr id="5" name="best-move.pt uses move NLL and last.pt preser">
            <a:extLst xmlns:a="http://schemas.openxmlformats.org/drawingml/2006/main">
              <a:ext uri="{FF2B5EF4-FFF2-40B4-BE49-F238E27FC236}">
                <a16:creationId xmlns:a16="http://schemas.microsoft.com/office/drawing/2014/main" id="{5E984CB4-06B2-4AB5-87BA-DD61BA55F620}"/>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best-move.pt uses move NLL and last.pt preserves the completed budget.</a:t>
            </a:r>
          </a:p>
        </p:txBody>
      </p:sp>
      <p:sp>
        <p:nvSpPr>
          <p:cNvPr id="6" name="Maia-Chess   /   14">
            <a:extLst xmlns:a="http://schemas.openxmlformats.org/drawingml/2006/main">
              <a:ext uri="{FF2B5EF4-FFF2-40B4-BE49-F238E27FC236}">
                <a16:creationId xmlns:a16="http://schemas.microsoft.com/office/drawing/2014/main" id="{BF25E1BC-7B3A-4EA9-B97F-E3D450A24CC9}"/>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14</a:t>
            </a:r>
          </a:p>
        </p:txBody>
      </p:sp>
    </p:spTree>
    <p:extLst>
      <p:ext uri="{BB962C8B-B14F-4D97-AF65-F5344CB8AC3E}">
        <p14:creationId xmlns:p14="http://schemas.microsoft.com/office/powerpoint/2010/main" val="347770661"/>
      </p:ext>
    </p:extLst>
  </p:cSld>
</p:sld>
</file>

<file path=ppt/slides/slide1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Pre-move marginal timing">
            <a:extLst xmlns:a="http://schemas.openxmlformats.org/drawingml/2006/main">
              <a:ext uri="{FF2B5EF4-FFF2-40B4-BE49-F238E27FC236}">
                <a16:creationId xmlns:a16="http://schemas.microsoft.com/office/drawing/2014/main" id="{44C55550-5727-4F28-9D25-41F20842888E}"/>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Pre-move marginal timing</a:t>
            </a:r>
          </a:p>
        </p:txBody>
      </p:sp>
      <p:sp>
        <p:nvSpPr>
          <p:cNvPr id="2" name="P(time | x,p) = Σ_move P(move | x,p) P(time |">
            <a:extLst xmlns:a="http://schemas.openxmlformats.org/drawingml/2006/main">
              <a:ext uri="{FF2B5EF4-FFF2-40B4-BE49-F238E27FC236}">
                <a16:creationId xmlns:a16="http://schemas.microsoft.com/office/drawing/2014/main" id="{4B7CE501-A1CB-4E11-A0FA-05ADB7C2CF44}"/>
              </a:ext>
            </a:extLst>
          </p:cNvPr>
          <p:cNvSpPr>
            <a:spLocks xmlns:a="http://schemas.openxmlformats.org/drawingml/2006/main" noGrp="1"/>
          </p:cNvSpPr>
          <p:nvPr/>
        </p:nvSpPr>
        <p:spPr>
          <a:xfrm xmlns:a="http://schemas.openxmlformats.org/drawingml/2006/main">
            <a:off x="666750" y="1524000"/>
            <a:ext cx="10839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P(time | x,p) = Σ_move P(move | x,p) P(time | move,x,p)</a:t>
            </a:r>
          </a:p>
        </p:txBody>
      </p:sp>
      <p:sp>
        <p:nvSpPr>
          <p:cNvPr id="3" name="Weight every move-conditioned timing distribu">
            <a:extLst xmlns:a="http://schemas.openxmlformats.org/drawingml/2006/main">
              <a:ext uri="{FF2B5EF4-FFF2-40B4-BE49-F238E27FC236}">
                <a16:creationId xmlns:a16="http://schemas.microsoft.com/office/drawing/2014/main" id="{EEEECF80-E163-444B-99DE-6451B9F172D9}"/>
              </a:ext>
            </a:extLst>
          </p:cNvPr>
          <p:cNvSpPr>
            <a:spLocks xmlns:a="http://schemas.openxmlformats.org/drawingml/2006/main" noGrp="1"/>
          </p:cNvSpPr>
          <p:nvPr/>
        </p:nvSpPr>
        <p:spPr>
          <a:xfrm xmlns:a="http://schemas.openxmlformats.org/drawingml/2006/main">
            <a:off x="685800" y="28575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Weight every move-conditioned timing distribution by its predicted move probability.</a:t>
            </a:r>
          </a:p>
        </p:txBody>
      </p:sp>
      <p:sp>
        <p:nvSpPr>
          <p:cNvPr id="4" name="Evaluate marginal timing NLL before the actua">
            <a:extLst xmlns:a="http://schemas.openxmlformats.org/drawingml/2006/main">
              <a:ext uri="{FF2B5EF4-FFF2-40B4-BE49-F238E27FC236}">
                <a16:creationId xmlns:a16="http://schemas.microsoft.com/office/drawing/2014/main" id="{33B0F438-0C5B-4886-9606-88BB91062CFF}"/>
              </a:ext>
            </a:extLst>
          </p:cNvPr>
          <p:cNvSpPr>
            <a:spLocks xmlns:a="http://schemas.openxmlformats.org/drawingml/2006/main" noGrp="1"/>
          </p:cNvSpPr>
          <p:nvPr/>
        </p:nvSpPr>
        <p:spPr>
          <a:xfrm xmlns:a="http://schemas.openxmlformats.org/drawingml/2006/main">
            <a:off x="685800" y="3667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Evaluate marginal timing NLL before the actual move is known.</a:t>
            </a:r>
          </a:p>
        </p:txBody>
      </p:sp>
      <p:sp>
        <p:nvSpPr>
          <p:cNvPr id="5" name="Report conditional timing NLL separately.">
            <a:extLst xmlns:a="http://schemas.openxmlformats.org/drawingml/2006/main">
              <a:ext uri="{FF2B5EF4-FFF2-40B4-BE49-F238E27FC236}">
                <a16:creationId xmlns:a16="http://schemas.microsoft.com/office/drawing/2014/main" id="{53619B69-1F68-4967-959B-178A7A4AB059}"/>
              </a:ext>
            </a:extLst>
          </p:cNvPr>
          <p:cNvSpPr>
            <a:spLocks xmlns:a="http://schemas.openxmlformats.org/drawingml/2006/main" noGrp="1"/>
          </p:cNvSpPr>
          <p:nvPr/>
        </p:nvSpPr>
        <p:spPr>
          <a:xfrm xmlns:a="http://schemas.openxmlformats.org/drawingml/2006/main">
            <a:off x="685800" y="4476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Report conditional timing NLL separately.</a:t>
            </a:r>
          </a:p>
        </p:txBody>
      </p:sp>
      <p:sp>
        <p:nvSpPr>
          <p:cNvPr id="6" name="Do not compare raw training objective directl">
            <a:extLst xmlns:a="http://schemas.openxmlformats.org/drawingml/2006/main">
              <a:ext uri="{FF2B5EF4-FFF2-40B4-BE49-F238E27FC236}">
                <a16:creationId xmlns:a16="http://schemas.microsoft.com/office/drawing/2014/main" id="{13A476AC-5396-40B7-ABE5-124101080F09}"/>
              </a:ext>
            </a:extLst>
          </p:cNvPr>
          <p:cNvSpPr>
            <a:spLocks xmlns:a="http://schemas.openxmlformats.org/drawingml/2006/main" noGrp="1"/>
          </p:cNvSpPr>
          <p:nvPr/>
        </p:nvSpPr>
        <p:spPr>
          <a:xfrm xmlns:a="http://schemas.openxmlformats.org/drawingml/2006/main">
            <a:off x="685800" y="5286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Do not compare raw training objective directly with the different validation score.</a:t>
            </a:r>
          </a:p>
        </p:txBody>
      </p:sp>
      <p:sp>
        <p:nvSpPr>
          <p:cNvPr id="7" name="Maia-Chess   /   15">
            <a:extLst xmlns:a="http://schemas.openxmlformats.org/drawingml/2006/main">
              <a:ext uri="{FF2B5EF4-FFF2-40B4-BE49-F238E27FC236}">
                <a16:creationId xmlns:a16="http://schemas.microsoft.com/office/drawing/2014/main" id="{38ED0490-B50E-4463-BC83-799807B26CCB}"/>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15</a:t>
            </a:r>
          </a:p>
        </p:txBody>
      </p:sp>
    </p:spTree>
    <p:extLst>
      <p:ext uri="{BB962C8B-B14F-4D97-AF65-F5344CB8AC3E}">
        <p14:creationId xmlns:p14="http://schemas.microsoft.com/office/powerpoint/2010/main" val="311671580"/>
      </p:ext>
    </p:extLst>
  </p:cSld>
</p:sld>
</file>

<file path=ppt/slides/slide1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Metrics and empirical baselines">
            <a:extLst xmlns:a="http://schemas.openxmlformats.org/drawingml/2006/main">
              <a:ext uri="{FF2B5EF4-FFF2-40B4-BE49-F238E27FC236}">
                <a16:creationId xmlns:a16="http://schemas.microsoft.com/office/drawing/2014/main" id="{0E7627B3-2BA4-43C7-9736-7C0FCFF50A28}"/>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Metrics and empirical baselines</a:t>
            </a:r>
          </a:p>
        </p:txBody>
      </p:sp>
      <p:sp>
        <p:nvSpPr>
          <p:cNvPr id="2" name="Report move accuracy and NLL against the froz">
            <a:extLst xmlns:a="http://schemas.openxmlformats.org/drawingml/2006/main">
              <a:ext uri="{FF2B5EF4-FFF2-40B4-BE49-F238E27FC236}">
                <a16:creationId xmlns:a16="http://schemas.microsoft.com/office/drawing/2014/main" id="{FAFB87F6-5BC8-4CC9-8B26-F464A686A0FE}"/>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Report move accuracy and NLL against the frozen backbone.</a:t>
            </a:r>
          </a:p>
        </p:txBody>
      </p:sp>
      <p:sp>
        <p:nvSpPr>
          <p:cNvPr id="3" name="Report conditional and marginal timing NLL, a">
            <a:extLst xmlns:a="http://schemas.openxmlformats.org/drawingml/2006/main">
              <a:ext uri="{FF2B5EF4-FFF2-40B4-BE49-F238E27FC236}">
                <a16:creationId xmlns:a16="http://schemas.microsoft.com/office/drawing/2014/main" id="{E6BC7A64-3513-428C-9F9A-86CA56A9E1D6}"/>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Report conditional and marginal timing NLL, approximate MAE, and interval coverage and width.</a:t>
            </a:r>
          </a:p>
        </p:txBody>
      </p:sp>
      <p:sp>
        <p:nvSpPr>
          <p:cNvPr id="4" name="Group by time class, exact base+increment, an">
            <a:extLst xmlns:a="http://schemas.openxmlformats.org/drawingml/2006/main">
              <a:ext uri="{FF2B5EF4-FFF2-40B4-BE49-F238E27FC236}">
                <a16:creationId xmlns:a16="http://schemas.microsoft.com/office/drawing/2014/main" id="{918007D0-9E37-403C-8FDE-101843E5B57B}"/>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Group by time class, exact base+increment, and remaining-clock band.</a:t>
            </a:r>
          </a:p>
        </p:txBody>
      </p:sp>
      <p:sp>
        <p:nvSpPr>
          <p:cNvPr id="5" name="Fit histogram and median-time baselines on tr">
            <a:extLst xmlns:a="http://schemas.openxmlformats.org/drawingml/2006/main">
              <a:ext uri="{FF2B5EF4-FFF2-40B4-BE49-F238E27FC236}">
                <a16:creationId xmlns:a16="http://schemas.microsoft.com/office/drawing/2014/main" id="{C4A042FA-D3B9-4DA9-B53A-EC910B14574B}"/>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Fit histogram and median-time baselines on training data only.</a:t>
            </a:r>
          </a:p>
        </p:txBody>
      </p:sp>
      <p:sp>
        <p:nvSpPr>
          <p:cNvPr id="6" name="Maia-Chess   /   16">
            <a:extLst xmlns:a="http://schemas.openxmlformats.org/drawingml/2006/main">
              <a:ext uri="{FF2B5EF4-FFF2-40B4-BE49-F238E27FC236}">
                <a16:creationId xmlns:a16="http://schemas.microsoft.com/office/drawing/2014/main" id="{8224F2F9-4D57-4176-8108-A54CD0B4A3AC}"/>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16</a:t>
            </a:r>
          </a:p>
        </p:txBody>
      </p:sp>
    </p:spTree>
    <p:extLst>
      <p:ext uri="{BB962C8B-B14F-4D97-AF65-F5344CB8AC3E}">
        <p14:creationId xmlns:p14="http://schemas.microsoft.com/office/powerpoint/2010/main" val="914778208"/>
      </p:ext>
    </p:extLst>
  </p:cSld>
</p:sld>
</file>

<file path=ppt/slides/slide1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Execution and saved artifacts">
            <a:extLst xmlns:a="http://schemas.openxmlformats.org/drawingml/2006/main">
              <a:ext uri="{FF2B5EF4-FFF2-40B4-BE49-F238E27FC236}">
                <a16:creationId xmlns:a16="http://schemas.microsoft.com/office/drawing/2014/main" id="{B12E1E9B-3948-479B-A267-59B90217B2EF}"/>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Execution and saved artifacts</a:t>
            </a:r>
          </a:p>
        </p:txBody>
      </p:sp>
      <p:sp>
        <p:nvSpPr>
          <p:cNvPr id="2" name="download and prepare create audited processed">
            <a:extLst xmlns:a="http://schemas.openxmlformats.org/drawingml/2006/main">
              <a:ext uri="{FF2B5EF4-FFF2-40B4-BE49-F238E27FC236}">
                <a16:creationId xmlns:a16="http://schemas.microsoft.com/office/drawing/2014/main" id="{34E88AC0-E30D-410B-AABC-FB489C923242}"/>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download and prepare create audited processed splits.</a:t>
            </a:r>
          </a:p>
        </p:txBody>
      </p:sp>
      <p:sp>
        <p:nvSpPr>
          <p:cNvPr id="3" name="train --player NAME produces the independent ">
            <a:extLst xmlns:a="http://schemas.openxmlformats.org/drawingml/2006/main">
              <a:ext uri="{FF2B5EF4-FFF2-40B4-BE49-F238E27FC236}">
                <a16:creationId xmlns:a16="http://schemas.microsoft.com/office/drawing/2014/main" id="{1B9C92C9-0C23-4835-8A40-1C3A37E87E05}"/>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train --player NAME produces the independent player checkpoint.</a:t>
            </a:r>
          </a:p>
        </p:txBody>
      </p:sp>
      <p:sp>
        <p:nvSpPr>
          <p:cNvPr id="4" name="evaluate reads a checkpoint and writes test m">
            <a:extLst xmlns:a="http://schemas.openxmlformats.org/drawingml/2006/main">
              <a:ext uri="{FF2B5EF4-FFF2-40B4-BE49-F238E27FC236}">
                <a16:creationId xmlns:a16="http://schemas.microsoft.com/office/drawing/2014/main" id="{1691B370-EEC7-4207-8873-10F0AD1F8688}"/>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evaluate reads a checkpoint and writes test metrics.</a:t>
            </a:r>
          </a:p>
        </p:txBody>
      </p:sp>
      <p:sp>
        <p:nvSpPr>
          <p:cNvPr id="5" name="Coverage, source hashes, selected offsets, ba">
            <a:extLst xmlns:a="http://schemas.openxmlformats.org/drawingml/2006/main">
              <a:ext uri="{FF2B5EF4-FFF2-40B4-BE49-F238E27FC236}">
                <a16:creationId xmlns:a16="http://schemas.microsoft.com/office/drawing/2014/main" id="{AA72B3B0-EEF0-48CB-A520-5199F2FF2F20}"/>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Coverage, source hashes, selected offsets, batch-order hashes, and timing baselines support reproducibility.</a:t>
            </a:r>
          </a:p>
        </p:txBody>
      </p:sp>
      <p:sp>
        <p:nvSpPr>
          <p:cNvPr id="6" name="Maia-Chess   /   17">
            <a:extLst xmlns:a="http://schemas.openxmlformats.org/drawingml/2006/main">
              <a:ext uri="{FF2B5EF4-FFF2-40B4-BE49-F238E27FC236}">
                <a16:creationId xmlns:a16="http://schemas.microsoft.com/office/drawing/2014/main" id="{B81D7482-3379-4363-AF9E-B1D7A9A9F026}"/>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17</a:t>
            </a:r>
          </a:p>
        </p:txBody>
      </p:sp>
    </p:spTree>
    <p:extLst>
      <p:ext uri="{BB962C8B-B14F-4D97-AF65-F5344CB8AC3E}">
        <p14:creationId xmlns:p14="http://schemas.microsoft.com/office/powerpoint/2010/main" val="1092020681"/>
      </p:ext>
    </p:extLst>
  </p:cSld>
</p:sld>
</file>

<file path=ppt/slides/slide1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Generalization and interpretation">
            <a:extLst xmlns:a="http://schemas.openxmlformats.org/drawingml/2006/main">
              <a:ext uri="{FF2B5EF4-FFF2-40B4-BE49-F238E27FC236}">
                <a16:creationId xmlns:a16="http://schemas.microsoft.com/office/drawing/2014/main" id="{C5A46F0A-8BEC-450D-9D20-2BC02A7EEEDC}"/>
              </a:ext>
            </a:extLst>
          </p:cNvPr>
          <p:cNvSpPr>
            <a:spLocks xmlns:a="http://schemas.openxmlformats.org/drawingml/2006/main" noGrp="1"/>
          </p:cNvSpPr>
          <p:nvPr/>
        </p:nvSpPr>
        <p:spPr>
          <a:xfrm xmlns:a="http://schemas.openxmlformats.org/drawingml/2006/main">
            <a:off x="609600" y="4381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C3B"/>
                </a:solidFill>
                <a:latin typeface="Arial"/>
                <a:ea typeface="Arial"/>
                <a:cs typeface="Arial"/>
              </a:defRPr>
            </a:defPPr>
            <a:lvl1pPr>
              <a:defRPr sz="3300" b="1">
                <a:solidFill>
                  <a:srgbClr val="102C3B"/>
                </a:solidFill>
                <a:latin typeface="Arial"/>
                <a:ea typeface="Arial"/>
                <a:cs typeface="Arial"/>
              </a:defRPr>
            </a:lvl1pPr>
            <a:lvl2pPr>
              <a:defRPr sz="3300" b="1">
                <a:solidFill>
                  <a:srgbClr val="102C3B"/>
                </a:solidFill>
                <a:latin typeface="Arial"/>
                <a:ea typeface="Arial"/>
                <a:cs typeface="Arial"/>
              </a:defRPr>
            </a:lvl2pPr>
            <a:lvl3pPr>
              <a:defRPr sz="3300" b="1">
                <a:solidFill>
                  <a:srgbClr val="102C3B"/>
                </a:solidFill>
                <a:latin typeface="Arial"/>
                <a:ea typeface="Arial"/>
                <a:cs typeface="Arial"/>
              </a:defRPr>
            </a:lvl3pPr>
            <a:lvl4pPr>
              <a:defRPr sz="3300" b="1">
                <a:solidFill>
                  <a:srgbClr val="102C3B"/>
                </a:solidFill>
                <a:latin typeface="Arial"/>
                <a:ea typeface="Arial"/>
                <a:cs typeface="Arial"/>
              </a:defRPr>
            </a:lvl4pPr>
            <a:lvl5pPr>
              <a:defRPr sz="3300" b="1">
                <a:solidFill>
                  <a:srgbClr val="102C3B"/>
                </a:solidFill>
                <a:latin typeface="Arial"/>
                <a:ea typeface="Arial"/>
                <a:cs typeface="Arial"/>
              </a:defRPr>
            </a:lvl5pPr>
            <a:lvl6pPr>
              <a:defRPr sz="3300" b="1">
                <a:solidFill>
                  <a:srgbClr val="102C3B"/>
                </a:solidFill>
                <a:latin typeface="Arial"/>
                <a:ea typeface="Arial"/>
                <a:cs typeface="Arial"/>
              </a:defRPr>
            </a:lvl6pPr>
            <a:lvl7pPr>
              <a:defRPr sz="3300" b="1">
                <a:solidFill>
                  <a:srgbClr val="102C3B"/>
                </a:solidFill>
                <a:latin typeface="Arial"/>
                <a:ea typeface="Arial"/>
                <a:cs typeface="Arial"/>
              </a:defRPr>
            </a:lvl7pPr>
            <a:lvl8pPr>
              <a:defRPr sz="3300" b="1">
                <a:solidFill>
                  <a:srgbClr val="102C3B"/>
                </a:solidFill>
                <a:latin typeface="Arial"/>
                <a:ea typeface="Arial"/>
                <a:cs typeface="Arial"/>
              </a:defRPr>
            </a:lvl8pPr>
            <a:lvl9pPr>
              <a:defRPr sz="3300" b="1">
                <a:solidFill>
                  <a:srgbClr val="102C3B"/>
                </a:solidFill>
                <a:latin typeface="Arial"/>
                <a:ea typeface="Arial"/>
                <a:cs typeface="Arial"/>
              </a:defRPr>
            </a:lvl9pPr>
          </a:lstStyle>
          <a:p xmlns:a="http://schemas.openxmlformats.org/drawingml/2006/main">
            <a:pPr>
              <a:defRPr sz="3300" b="1">
                <a:solidFill>
                  <a:srgbClr val="102C3B"/>
                </a:solidFill>
                <a:latin typeface="Arial"/>
                <a:ea typeface="Arial"/>
                <a:cs typeface="Arial"/>
              </a:defRPr>
            </a:pPr>
            <a:r>
              <a:rPr sz="3300" b="1">
                <a:solidFill>
                  <a:srgbClr val="102C3B"/>
                </a:solidFill>
                <a:latin typeface="Arial"/>
                <a:ea typeface="Arial"/>
                <a:cs typeface="Arial"/>
              </a:rPr>
              <a:t>Generalization and interpretation</a:t>
            </a:r>
          </a:p>
        </p:txBody>
      </p:sp>
      <p:sp>
        <p:nvSpPr>
          <p:cNvPr id="2" name="Synthetic tests verify software behavior, not">
            <a:extLst xmlns:a="http://schemas.openxmlformats.org/drawingml/2006/main">
              <a:ext uri="{FF2B5EF4-FFF2-40B4-BE49-F238E27FC236}">
                <a16:creationId xmlns:a16="http://schemas.microsoft.com/office/drawing/2014/main" id="{D1D5DCBE-EAD5-44F4-8B43-624850ABB439}"/>
              </a:ext>
            </a:extLst>
          </p:cNvPr>
          <p:cNvSpPr>
            <a:spLocks xmlns:a="http://schemas.openxmlformats.org/drawingml/2006/main" noGrp="1"/>
          </p:cNvSpPr>
          <p:nvPr/>
        </p:nvSpPr>
        <p:spPr>
          <a:xfrm xmlns:a="http://schemas.openxmlformats.org/drawingml/2006/main">
            <a:off x="685800" y="1657350"/>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Synthetic tests verify software behavior, not style fidelity or playing strength.</a:t>
            </a:r>
          </a:p>
        </p:txBody>
      </p:sp>
      <p:sp>
        <p:nvSpPr>
          <p:cNvPr id="3" name="Different time controls and eras confound pla">
            <a:extLst xmlns:a="http://schemas.openxmlformats.org/drawingml/2006/main">
              <a:ext uri="{FF2B5EF4-FFF2-40B4-BE49-F238E27FC236}">
                <a16:creationId xmlns:a16="http://schemas.microsoft.com/office/drawing/2014/main" id="{3C9B6B4E-1A5D-43EF-AA01-D07ECB205A48}"/>
              </a:ext>
            </a:extLst>
          </p:cNvPr>
          <p:cNvSpPr>
            <a:spLocks xmlns:a="http://schemas.openxmlformats.org/drawingml/2006/main" noGrp="1"/>
          </p:cNvSpPr>
          <p:nvPr/>
        </p:nvSpPr>
        <p:spPr>
          <a:xfrm xmlns:a="http://schemas.openxmlformats.org/drawingml/2006/main">
            <a:off x="685800" y="2767013"/>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Different time controls and eras confound player-speed comparisons.</a:t>
            </a:r>
          </a:p>
        </p:txBody>
      </p:sp>
      <p:sp>
        <p:nvSpPr>
          <p:cNvPr id="4" name="Maia pretraining may overlap older downstream">
            <a:extLst xmlns:a="http://schemas.openxmlformats.org/drawingml/2006/main">
              <a:ext uri="{FF2B5EF4-FFF2-40B4-BE49-F238E27FC236}">
                <a16:creationId xmlns:a16="http://schemas.microsoft.com/office/drawing/2014/main" id="{55038872-DA0A-43A8-823A-790550588575}"/>
              </a:ext>
            </a:extLst>
          </p:cNvPr>
          <p:cNvSpPr>
            <a:spLocks xmlns:a="http://schemas.openxmlformats.org/drawingml/2006/main" noGrp="1"/>
          </p:cNvSpPr>
          <p:nvPr/>
        </p:nvSpPr>
        <p:spPr>
          <a:xfrm xmlns:a="http://schemas.openxmlformats.org/drawingml/2006/main">
            <a:off x="685800" y="3876675"/>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Maia pretraining may overlap older downstream evaluation games.</a:t>
            </a:r>
          </a:p>
        </p:txBody>
      </p:sp>
      <p:sp>
        <p:nvSpPr>
          <p:cNvPr id="5" name="Reserve suitably recent external games for fi">
            <a:extLst xmlns:a="http://schemas.openxmlformats.org/drawingml/2006/main">
              <a:ext uri="{FF2B5EF4-FFF2-40B4-BE49-F238E27FC236}">
                <a16:creationId xmlns:a16="http://schemas.microsoft.com/office/drawing/2014/main" id="{ABEC22A0-313D-4469-9DF4-A191FB14C11E}"/>
              </a:ext>
            </a:extLst>
          </p:cNvPr>
          <p:cNvSpPr>
            <a:spLocks xmlns:a="http://schemas.openxmlformats.org/drawingml/2006/main" noGrp="1"/>
          </p:cNvSpPr>
          <p:nvPr/>
        </p:nvSpPr>
        <p:spPr>
          <a:xfrm xmlns:a="http://schemas.openxmlformats.org/drawingml/2006/main">
            <a:off x="685800" y="4986338"/>
            <a:ext cx="10763250" cy="1014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33748"/>
                </a:solidFill>
                <a:latin typeface="Arial"/>
                <a:ea typeface="Arial"/>
                <a:cs typeface="Arial"/>
              </a:defRPr>
            </a:defPPr>
            <a:lvl1pPr>
              <a:defRPr sz="2025" b="0">
                <a:solidFill>
                  <a:srgbClr val="233748"/>
                </a:solidFill>
                <a:latin typeface="Arial"/>
                <a:ea typeface="Arial"/>
                <a:cs typeface="Arial"/>
              </a:defRPr>
            </a:lvl1pPr>
            <a:lvl2pPr>
              <a:defRPr sz="2025" b="0">
                <a:solidFill>
                  <a:srgbClr val="233748"/>
                </a:solidFill>
                <a:latin typeface="Arial"/>
                <a:ea typeface="Arial"/>
                <a:cs typeface="Arial"/>
              </a:defRPr>
            </a:lvl2pPr>
            <a:lvl3pPr>
              <a:defRPr sz="2025" b="0">
                <a:solidFill>
                  <a:srgbClr val="233748"/>
                </a:solidFill>
                <a:latin typeface="Arial"/>
                <a:ea typeface="Arial"/>
                <a:cs typeface="Arial"/>
              </a:defRPr>
            </a:lvl3pPr>
            <a:lvl4pPr>
              <a:defRPr sz="2025" b="0">
                <a:solidFill>
                  <a:srgbClr val="233748"/>
                </a:solidFill>
                <a:latin typeface="Arial"/>
                <a:ea typeface="Arial"/>
                <a:cs typeface="Arial"/>
              </a:defRPr>
            </a:lvl4pPr>
            <a:lvl5pPr>
              <a:defRPr sz="2025" b="0">
                <a:solidFill>
                  <a:srgbClr val="233748"/>
                </a:solidFill>
                <a:latin typeface="Arial"/>
                <a:ea typeface="Arial"/>
                <a:cs typeface="Arial"/>
              </a:defRPr>
            </a:lvl5pPr>
            <a:lvl6pPr>
              <a:defRPr sz="2025" b="0">
                <a:solidFill>
                  <a:srgbClr val="233748"/>
                </a:solidFill>
                <a:latin typeface="Arial"/>
                <a:ea typeface="Arial"/>
                <a:cs typeface="Arial"/>
              </a:defRPr>
            </a:lvl6pPr>
            <a:lvl7pPr>
              <a:defRPr sz="2025" b="0">
                <a:solidFill>
                  <a:srgbClr val="233748"/>
                </a:solidFill>
                <a:latin typeface="Arial"/>
                <a:ea typeface="Arial"/>
                <a:cs typeface="Arial"/>
              </a:defRPr>
            </a:lvl7pPr>
            <a:lvl8pPr>
              <a:defRPr sz="2025" b="0">
                <a:solidFill>
                  <a:srgbClr val="233748"/>
                </a:solidFill>
                <a:latin typeface="Arial"/>
                <a:ea typeface="Arial"/>
                <a:cs typeface="Arial"/>
              </a:defRPr>
            </a:lvl8pPr>
            <a:lvl9pPr>
              <a:defRPr sz="2025" b="0">
                <a:solidFill>
                  <a:srgbClr val="233748"/>
                </a:solidFill>
                <a:latin typeface="Arial"/>
                <a:ea typeface="Arial"/>
                <a:cs typeface="Arial"/>
              </a:defRPr>
            </a:lvl9pPr>
          </a:lstStyle>
          <a:p xmlns:a="http://schemas.openxmlformats.org/drawingml/2006/main">
            <a:pPr>
              <a:defRPr sz="2025" b="0">
                <a:solidFill>
                  <a:srgbClr val="233748"/>
                </a:solidFill>
                <a:latin typeface="Arial"/>
                <a:ea typeface="Arial"/>
                <a:cs typeface="Arial"/>
              </a:defRPr>
            </a:pPr>
            <a:r>
              <a:rPr sz="2025" b="0">
                <a:solidFill>
                  <a:srgbClr val="233748"/>
                </a:solidFill>
                <a:latin typeface="Arial"/>
                <a:ea typeface="Arial"/>
                <a:cs typeface="Arial"/>
              </a:rPr>
              <a:t>Reserve suitably recent external games for final confirmation.</a:t>
            </a:r>
          </a:p>
        </p:txBody>
      </p:sp>
      <p:sp>
        <p:nvSpPr>
          <p:cNvPr id="6" name="Maia-Chess   /   18">
            <a:extLst xmlns:a="http://schemas.openxmlformats.org/drawingml/2006/main">
              <a:ext uri="{FF2B5EF4-FFF2-40B4-BE49-F238E27FC236}">
                <a16:creationId xmlns:a16="http://schemas.microsoft.com/office/drawing/2014/main" id="{953B433D-8703-459E-B7BC-4D92F12B9D8C}"/>
              </a:ext>
            </a:extLst>
          </p:cNvPr>
          <p:cNvSpPr>
            <a:spLocks xmlns:a="http://schemas.openxmlformats.org/drawingml/2006/main" noGrp="1"/>
          </p:cNvSpPr>
          <p:nvPr/>
        </p:nvSpPr>
        <p:spPr>
          <a:xfrm xmlns:a="http://schemas.openxmlformats.org/drawingml/2006/main">
            <a:off x="666750" y="6419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67B"/>
                </a:solidFill>
                <a:latin typeface="Arial"/>
                <a:ea typeface="Arial"/>
                <a:cs typeface="Arial"/>
              </a:defRPr>
            </a:defPPr>
            <a:lvl1pPr>
              <a:defRPr sz="1125" b="0">
                <a:solidFill>
                  <a:srgbClr val="62767B"/>
                </a:solidFill>
                <a:latin typeface="Arial"/>
                <a:ea typeface="Arial"/>
                <a:cs typeface="Arial"/>
              </a:defRPr>
            </a:lvl1pPr>
            <a:lvl2pPr>
              <a:defRPr sz="1125" b="0">
                <a:solidFill>
                  <a:srgbClr val="62767B"/>
                </a:solidFill>
                <a:latin typeface="Arial"/>
                <a:ea typeface="Arial"/>
                <a:cs typeface="Arial"/>
              </a:defRPr>
            </a:lvl2pPr>
            <a:lvl3pPr>
              <a:defRPr sz="1125" b="0">
                <a:solidFill>
                  <a:srgbClr val="62767B"/>
                </a:solidFill>
                <a:latin typeface="Arial"/>
                <a:ea typeface="Arial"/>
                <a:cs typeface="Arial"/>
              </a:defRPr>
            </a:lvl3pPr>
            <a:lvl4pPr>
              <a:defRPr sz="1125" b="0">
                <a:solidFill>
                  <a:srgbClr val="62767B"/>
                </a:solidFill>
                <a:latin typeface="Arial"/>
                <a:ea typeface="Arial"/>
                <a:cs typeface="Arial"/>
              </a:defRPr>
            </a:lvl4pPr>
            <a:lvl5pPr>
              <a:defRPr sz="1125" b="0">
                <a:solidFill>
                  <a:srgbClr val="62767B"/>
                </a:solidFill>
                <a:latin typeface="Arial"/>
                <a:ea typeface="Arial"/>
                <a:cs typeface="Arial"/>
              </a:defRPr>
            </a:lvl5pPr>
            <a:lvl6pPr>
              <a:defRPr sz="1125" b="0">
                <a:solidFill>
                  <a:srgbClr val="62767B"/>
                </a:solidFill>
                <a:latin typeface="Arial"/>
                <a:ea typeface="Arial"/>
                <a:cs typeface="Arial"/>
              </a:defRPr>
            </a:lvl6pPr>
            <a:lvl7pPr>
              <a:defRPr sz="1125" b="0">
                <a:solidFill>
                  <a:srgbClr val="62767B"/>
                </a:solidFill>
                <a:latin typeface="Arial"/>
                <a:ea typeface="Arial"/>
                <a:cs typeface="Arial"/>
              </a:defRPr>
            </a:lvl7pPr>
            <a:lvl8pPr>
              <a:defRPr sz="1125" b="0">
                <a:solidFill>
                  <a:srgbClr val="62767B"/>
                </a:solidFill>
                <a:latin typeface="Arial"/>
                <a:ea typeface="Arial"/>
                <a:cs typeface="Arial"/>
              </a:defRPr>
            </a:lvl8pPr>
            <a:lvl9pPr>
              <a:defRPr sz="1125" b="0">
                <a:solidFill>
                  <a:srgbClr val="62767B"/>
                </a:solidFill>
                <a:latin typeface="Arial"/>
                <a:ea typeface="Arial"/>
                <a:cs typeface="Arial"/>
              </a:defRPr>
            </a:lvl9pPr>
          </a:lstStyle>
          <a:p xmlns:a="http://schemas.openxmlformats.org/drawingml/2006/main">
            <a:pPr>
              <a:defRPr sz="1125" b="0">
                <a:solidFill>
                  <a:srgbClr val="62767B"/>
                </a:solidFill>
                <a:latin typeface="Arial"/>
                <a:ea typeface="Arial"/>
                <a:cs typeface="Arial"/>
              </a:defRPr>
            </a:pPr>
            <a:r>
              <a:rPr sz="1125" b="0">
                <a:solidFill>
                  <a:srgbClr val="62767B"/>
                </a:solidFill>
                <a:latin typeface="Arial"/>
                <a:ea typeface="Arial"/>
                <a:cs typeface="Arial"/>
              </a:rPr>
              <a:t>Maia-Chess   /   18</a:t>
            </a:r>
          </a:p>
        </p:txBody>
      </p:sp>
    </p:spTree>
    <p:extLst>
      <p:ext uri="{BB962C8B-B14F-4D97-AF65-F5344CB8AC3E}">
        <p14:creationId xmlns:p14="http://schemas.microsoft.com/office/powerpoint/2010/main" val="1189751906"/>
      </p:ext>
    </p:extLst>
  </p:cSld>
</p:sld>
</file>

<file path=ppt/slides/slide19.xml><?xml version="1.0" encoding="utf-8"?>
<p:sld xmlns:p="http://schemas.openxmlformats.org/presentationml/2006/main">
  <p:cSld>
    <p:bg>
      <p:bgPr>
        <a:solidFill xmlns:a="http://schemas.openxmlformats.org/drawingml/2006/main">
          <a:srgbClr val="102C3B"/>
        </a:solidFill>
      </p:bgPr>
    </p:bg>
    <p:spTree>
      <p:nvGrpSpPr>
        <p:cNvPr id="1" name=""/>
        <p:cNvGrpSpPr/>
        <p:nvPr/>
      </p:nvGrpSpPr>
      <p:grpSpPr>
        <a:xfrm xmlns:a="http://schemas.openxmlformats.org/drawingml/2006/main"/>
      </p:grpSpPr>
      <p:sp>
        <p:nvSpPr>
          <p:cNvPr id="6" name="Source map">
            <a:extLst xmlns:a="http://schemas.openxmlformats.org/drawingml/2006/main">
              <a:ext uri="{FF2B5EF4-FFF2-40B4-BE49-F238E27FC236}">
                <a16:creationId xmlns:a16="http://schemas.microsoft.com/office/drawing/2014/main" id="{BF07078C-36E2-40E0-8040-5AD38B2336EE}"/>
              </a:ext>
            </a:extLst>
          </p:cNvPr>
          <p:cNvSpPr>
            <a:spLocks xmlns:a="http://schemas.openxmlformats.org/drawingml/2006/main" noGrp="1"/>
          </p:cNvSpPr>
          <p:nvPr/>
        </p:nvSpPr>
        <p:spPr>
          <a:xfrm xmlns:a="http://schemas.openxmlformats.org/drawingml/2006/main">
            <a:off x="685800" y="5715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Source map</a:t>
            </a:r>
          </a:p>
        </p:txBody>
      </p:sp>
      <p:sp>
        <p:nvSpPr>
          <p:cNvPr id="2" name="Repository snapshot">
            <a:extLst xmlns:a="http://schemas.openxmlformats.org/drawingml/2006/main">
              <a:ext uri="{FF2B5EF4-FFF2-40B4-BE49-F238E27FC236}">
                <a16:creationId xmlns:a16="http://schemas.microsoft.com/office/drawing/2014/main" id="{1ED69FFB-132B-4AC6-BFA7-51A6BBE48269}"/>
              </a:ext>
            </a:extLst>
          </p:cNvPr>
          <p:cNvSpPr>
            <a:spLocks xmlns:a="http://schemas.openxmlformats.org/drawingml/2006/main" noGrp="1"/>
          </p:cNvSpPr>
          <p:nvPr/>
        </p:nvSpPr>
        <p:spPr>
          <a:xfrm xmlns:a="http://schemas.openxmlformats.org/drawingml/2006/main">
            <a:off x="723900" y="18288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AD8D0"/>
                </a:solidFill>
                <a:latin typeface="Arial"/>
                <a:ea typeface="Arial"/>
                <a:cs typeface="Arial"/>
              </a:defRPr>
            </a:defPPr>
            <a:lvl1pPr>
              <a:defRPr sz="2100" b="1">
                <a:solidFill>
                  <a:srgbClr val="AAD8D0"/>
                </a:solidFill>
                <a:latin typeface="Arial"/>
                <a:ea typeface="Arial"/>
                <a:cs typeface="Arial"/>
              </a:defRPr>
            </a:lvl1pPr>
            <a:lvl2pPr>
              <a:defRPr sz="2100" b="1">
                <a:solidFill>
                  <a:srgbClr val="AAD8D0"/>
                </a:solidFill>
                <a:latin typeface="Arial"/>
                <a:ea typeface="Arial"/>
                <a:cs typeface="Arial"/>
              </a:defRPr>
            </a:lvl2pPr>
            <a:lvl3pPr>
              <a:defRPr sz="2100" b="1">
                <a:solidFill>
                  <a:srgbClr val="AAD8D0"/>
                </a:solidFill>
                <a:latin typeface="Arial"/>
                <a:ea typeface="Arial"/>
                <a:cs typeface="Arial"/>
              </a:defRPr>
            </a:lvl3pPr>
            <a:lvl4pPr>
              <a:defRPr sz="2100" b="1">
                <a:solidFill>
                  <a:srgbClr val="AAD8D0"/>
                </a:solidFill>
                <a:latin typeface="Arial"/>
                <a:ea typeface="Arial"/>
                <a:cs typeface="Arial"/>
              </a:defRPr>
            </a:lvl4pPr>
            <a:lvl5pPr>
              <a:defRPr sz="2100" b="1">
                <a:solidFill>
                  <a:srgbClr val="AAD8D0"/>
                </a:solidFill>
                <a:latin typeface="Arial"/>
                <a:ea typeface="Arial"/>
                <a:cs typeface="Arial"/>
              </a:defRPr>
            </a:lvl5pPr>
            <a:lvl6pPr>
              <a:defRPr sz="2100" b="1">
                <a:solidFill>
                  <a:srgbClr val="AAD8D0"/>
                </a:solidFill>
                <a:latin typeface="Arial"/>
                <a:ea typeface="Arial"/>
                <a:cs typeface="Arial"/>
              </a:defRPr>
            </a:lvl6pPr>
            <a:lvl7pPr>
              <a:defRPr sz="2100" b="1">
                <a:solidFill>
                  <a:srgbClr val="AAD8D0"/>
                </a:solidFill>
                <a:latin typeface="Arial"/>
                <a:ea typeface="Arial"/>
                <a:cs typeface="Arial"/>
              </a:defRPr>
            </a:lvl7pPr>
            <a:lvl8pPr>
              <a:defRPr sz="2100" b="1">
                <a:solidFill>
                  <a:srgbClr val="AAD8D0"/>
                </a:solidFill>
                <a:latin typeface="Arial"/>
                <a:ea typeface="Arial"/>
                <a:cs typeface="Arial"/>
              </a:defRPr>
            </a:lvl8pPr>
            <a:lvl9pPr>
              <a:defRPr sz="2100" b="1">
                <a:solidFill>
                  <a:srgbClr val="AAD8D0"/>
                </a:solidFill>
                <a:latin typeface="Arial"/>
                <a:ea typeface="Arial"/>
                <a:cs typeface="Arial"/>
              </a:defRPr>
            </a:lvl9pPr>
          </a:lstStyle>
          <a:p xmlns:a="http://schemas.openxmlformats.org/drawingml/2006/main">
            <a:pPr>
              <a:defRPr sz="2100" b="1">
                <a:solidFill>
                  <a:srgbClr val="AAD8D0"/>
                </a:solidFill>
                <a:latin typeface="Arial"/>
                <a:ea typeface="Arial"/>
                <a:cs typeface="Arial"/>
              </a:defRPr>
            </a:pPr>
            <a:r>
              <a:rPr sz="2100" b="1">
                <a:solidFill>
                  <a:srgbClr val="AAD8D0"/>
                </a:solidFill>
                <a:latin typeface="Arial"/>
                <a:ea typeface="Arial"/>
                <a:cs typeface="Arial"/>
              </a:rPr>
              <a:t>Repository snapshot</a:t>
            </a:r>
          </a:p>
        </p:txBody>
      </p:sp>
      <p:sp>
        <p:nvSpPr>
          <p:cNvPr id="3" name="Maia-Chess&#10;1bc429b5517280819910fb573b0593a770">
            <a:extLst xmlns:a="http://schemas.openxmlformats.org/drawingml/2006/main">
              <a:ext uri="{FF2B5EF4-FFF2-40B4-BE49-F238E27FC236}">
                <a16:creationId xmlns:a16="http://schemas.microsoft.com/office/drawing/2014/main" id="{2F1CDBE8-B8E1-43A9-BF7E-CF73670F55C7}"/>
              </a:ext>
            </a:extLst>
          </p:cNvPr>
          <p:cNvSpPr>
            <a:spLocks xmlns:a="http://schemas.openxmlformats.org/drawingml/2006/main" noGrp="1"/>
          </p:cNvSpPr>
          <p:nvPr/>
        </p:nvSpPr>
        <p:spPr>
          <a:xfrm xmlns:a="http://schemas.openxmlformats.org/drawingml/2006/main">
            <a:off x="723900" y="23431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Maia-Chess</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1bc429b5517280819910fb573b0593a770f0a904</a:t>
            </a:r>
          </a:p>
        </p:txBody>
      </p:sp>
      <p:sp>
        <p:nvSpPr>
          <p:cNvPr id="4" name="The notes on each slide link to the code and ">
            <a:extLst xmlns:a="http://schemas.openxmlformats.org/drawingml/2006/main">
              <a:ext uri="{FF2B5EF4-FFF2-40B4-BE49-F238E27FC236}">
                <a16:creationId xmlns:a16="http://schemas.microsoft.com/office/drawing/2014/main" id="{0A1052AE-4038-4FB9-9DB0-8CFC78FF7C20}"/>
              </a:ext>
            </a:extLst>
          </p:cNvPr>
          <p:cNvSpPr>
            <a:spLocks xmlns:a="http://schemas.openxmlformats.org/drawingml/2006/main" noGrp="1"/>
          </p:cNvSpPr>
          <p:nvPr/>
        </p:nvSpPr>
        <p:spPr>
          <a:xfrm xmlns:a="http://schemas.openxmlformats.org/drawingml/2006/main">
            <a:off x="723900" y="3714750"/>
            <a:ext cx="1028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The notes on each slide link to the code and reports supporting its explanation. Reported experiment outcomes retain the scope and limitations stated in those sources.</a:t>
            </a:r>
          </a:p>
        </p:txBody>
      </p:sp>
      <p:sp>
        <p:nvSpPr>
          <p:cNvPr id="5" name="21 October 2026">
            <a:extLst xmlns:a="http://schemas.openxmlformats.org/drawingml/2006/main">
              <a:ext uri="{FF2B5EF4-FFF2-40B4-BE49-F238E27FC236}">
                <a16:creationId xmlns:a16="http://schemas.microsoft.com/office/drawing/2014/main" id="{908DB280-B99E-4251-8E53-80045849872F}"/>
              </a:ext>
            </a:extLst>
          </p:cNvPr>
          <p:cNvSpPr>
            <a:spLocks xmlns:a="http://schemas.openxmlformats.org/drawingml/2006/main" noGrp="1"/>
          </p:cNvSpPr>
          <p:nvPr/>
        </p:nvSpPr>
        <p:spPr>
          <a:xfrm xmlns:a="http://schemas.openxmlformats.org/drawingml/2006/main">
            <a:off x="723900" y="5924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AD8D0"/>
                </a:solidFill>
                <a:latin typeface="Arial"/>
                <a:ea typeface="Arial"/>
                <a:cs typeface="Arial"/>
              </a:defRPr>
            </a:defPPr>
            <a:lvl1pPr>
              <a:defRPr sz="1500" b="0">
                <a:solidFill>
                  <a:srgbClr val="AAD8D0"/>
                </a:solidFill>
                <a:latin typeface="Arial"/>
                <a:ea typeface="Arial"/>
                <a:cs typeface="Arial"/>
              </a:defRPr>
            </a:lvl1pPr>
            <a:lvl2pPr>
              <a:defRPr sz="1500" b="0">
                <a:solidFill>
                  <a:srgbClr val="AAD8D0"/>
                </a:solidFill>
                <a:latin typeface="Arial"/>
                <a:ea typeface="Arial"/>
                <a:cs typeface="Arial"/>
              </a:defRPr>
            </a:lvl2pPr>
            <a:lvl3pPr>
              <a:defRPr sz="1500" b="0">
                <a:solidFill>
                  <a:srgbClr val="AAD8D0"/>
                </a:solidFill>
                <a:latin typeface="Arial"/>
                <a:ea typeface="Arial"/>
                <a:cs typeface="Arial"/>
              </a:defRPr>
            </a:lvl3pPr>
            <a:lvl4pPr>
              <a:defRPr sz="1500" b="0">
                <a:solidFill>
                  <a:srgbClr val="AAD8D0"/>
                </a:solidFill>
                <a:latin typeface="Arial"/>
                <a:ea typeface="Arial"/>
                <a:cs typeface="Arial"/>
              </a:defRPr>
            </a:lvl4pPr>
            <a:lvl5pPr>
              <a:defRPr sz="1500" b="0">
                <a:solidFill>
                  <a:srgbClr val="AAD8D0"/>
                </a:solidFill>
                <a:latin typeface="Arial"/>
                <a:ea typeface="Arial"/>
                <a:cs typeface="Arial"/>
              </a:defRPr>
            </a:lvl5pPr>
            <a:lvl6pPr>
              <a:defRPr sz="1500" b="0">
                <a:solidFill>
                  <a:srgbClr val="AAD8D0"/>
                </a:solidFill>
                <a:latin typeface="Arial"/>
                <a:ea typeface="Arial"/>
                <a:cs typeface="Arial"/>
              </a:defRPr>
            </a:lvl6pPr>
            <a:lvl7pPr>
              <a:defRPr sz="1500" b="0">
                <a:solidFill>
                  <a:srgbClr val="AAD8D0"/>
                </a:solidFill>
                <a:latin typeface="Arial"/>
                <a:ea typeface="Arial"/>
                <a:cs typeface="Arial"/>
              </a:defRPr>
            </a:lvl7pPr>
            <a:lvl8pPr>
              <a:defRPr sz="1500" b="0">
                <a:solidFill>
                  <a:srgbClr val="AAD8D0"/>
                </a:solidFill>
                <a:latin typeface="Arial"/>
                <a:ea typeface="Arial"/>
                <a:cs typeface="Arial"/>
              </a:defRPr>
            </a:lvl8pPr>
            <a:lvl9pPr>
              <a:defRPr sz="1500" b="0">
                <a:solidFill>
                  <a:srgbClr val="AAD8D0"/>
                </a:solidFill>
                <a:latin typeface="Arial"/>
                <a:ea typeface="Arial"/>
                <a:cs typeface="Arial"/>
              </a:defRPr>
            </a:lvl9pPr>
          </a:lstStyle>
          <a:p xmlns:a="http://schemas.openxmlformats.org/drawingml/2006/main">
            <a:pPr>
              <a:defRPr sz="1500" b="0">
                <a:solidFill>
                  <a:srgbClr val="AAD8D0"/>
                </a:solidFill>
                <a:latin typeface="Arial"/>
                <a:ea typeface="Arial"/>
                <a:cs typeface="Arial"/>
              </a:defRPr>
            </a:pPr>
            <a:r>
              <a:rPr sz="1500" b="0">
                <a:solidFill>
                  <a:srgbClr val="AAD8D0"/>
                </a:solidFill>
                <a:latin typeface="Arial"/>
                <a:ea typeface="Arial"/>
                <a:cs typeface="Arial"/>
              </a:rPr>
              <a:t>21 October 2026</a:t>
            </a:r>
          </a:p>
        </p:txBody>
      </p:sp>
    </p:spTree>
    <p:extLst>
      <p:ext uri="{BB962C8B-B14F-4D97-AF65-F5344CB8AC3E}">
        <p14:creationId xmlns:p14="http://schemas.microsoft.com/office/powerpoint/2010/main" val="14711799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2026-10-21T22:19:26.2140000Z</dcterms:created>
  <dcterms:modified xsi:type="dcterms:W3CDTF">2026-10-21T22:19:26.2140000Z</dcterms:modified>
</coreProperties>
</file>